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3"/>
  </p:notesMasterIdLst>
  <p:sldIdLst>
    <p:sldId id="266" r:id="rId2"/>
    <p:sldId id="270" r:id="rId3"/>
    <p:sldId id="469" r:id="rId4"/>
    <p:sldId id="482" r:id="rId5"/>
    <p:sldId id="480" r:id="rId6"/>
    <p:sldId id="488" r:id="rId7"/>
    <p:sldId id="481" r:id="rId8"/>
    <p:sldId id="483" r:id="rId9"/>
    <p:sldId id="489" r:id="rId10"/>
    <p:sldId id="484" r:id="rId11"/>
    <p:sldId id="497" r:id="rId12"/>
    <p:sldId id="496" r:id="rId13"/>
    <p:sldId id="495" r:id="rId14"/>
    <p:sldId id="498" r:id="rId15"/>
    <p:sldId id="500" r:id="rId16"/>
    <p:sldId id="501" r:id="rId17"/>
    <p:sldId id="502" r:id="rId18"/>
    <p:sldId id="503" r:id="rId19"/>
    <p:sldId id="504" r:id="rId20"/>
    <p:sldId id="505" r:id="rId21"/>
    <p:sldId id="506" r:id="rId22"/>
    <p:sldId id="507" r:id="rId23"/>
    <p:sldId id="499" r:id="rId24"/>
    <p:sldId id="508" r:id="rId25"/>
    <p:sldId id="509" r:id="rId26"/>
    <p:sldId id="510" r:id="rId27"/>
    <p:sldId id="511" r:id="rId28"/>
    <p:sldId id="519" r:id="rId29"/>
    <p:sldId id="512" r:id="rId30"/>
    <p:sldId id="513" r:id="rId31"/>
    <p:sldId id="514" r:id="rId32"/>
    <p:sldId id="515" r:id="rId33"/>
    <p:sldId id="516" r:id="rId34"/>
    <p:sldId id="517" r:id="rId35"/>
    <p:sldId id="518" r:id="rId36"/>
    <p:sldId id="520" r:id="rId37"/>
    <p:sldId id="521" r:id="rId38"/>
    <p:sldId id="523" r:id="rId39"/>
    <p:sldId id="524" r:id="rId40"/>
    <p:sldId id="525" r:id="rId41"/>
    <p:sldId id="526" r:id="rId42"/>
    <p:sldId id="527" r:id="rId43"/>
    <p:sldId id="528" r:id="rId44"/>
    <p:sldId id="494" r:id="rId45"/>
    <p:sldId id="487" r:id="rId46"/>
    <p:sldId id="490" r:id="rId47"/>
    <p:sldId id="491" r:id="rId48"/>
    <p:sldId id="485" r:id="rId49"/>
    <p:sldId id="493" r:id="rId50"/>
    <p:sldId id="486" r:id="rId51"/>
    <p:sldId id="259" r:id="rId52"/>
  </p:sldIdLst>
  <p:sldSz cx="12192000" cy="6858000"/>
  <p:notesSz cx="12192000" cy="6858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  <a:srgbClr val="FCFCFC"/>
    <a:srgbClr val="BA8C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013" autoAdjust="0"/>
  </p:normalViewPr>
  <p:slideViewPr>
    <p:cSldViewPr>
      <p:cViewPr varScale="1">
        <p:scale>
          <a:sx n="72" d="100"/>
          <a:sy n="72" d="100"/>
        </p:scale>
        <p:origin x="108" y="1182"/>
      </p:cViewPr>
      <p:guideLst>
        <p:guide orient="horz" pos="2880"/>
        <p:guide pos="21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C6500C-4BFF-459A-99F0-45ADC5C224D9}" type="datetimeFigureOut">
              <a:rPr lang="ko-KR" altLang="en-US" smtClean="0"/>
              <a:t>2023-08-31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5B3006-4CF6-467F-9F49-65D418B0FF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1811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https://www.youtube.com/watch?v=JodGoipO9xs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차트 패턴은 딱 </a:t>
            </a:r>
            <a:r>
              <a:rPr lang="en-US" altLang="ko-K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ko-KR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가지만 알고 계시면 충분합니다</a:t>
            </a:r>
            <a:r>
              <a:rPr lang="en-US" altLang="ko-K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77828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헤드엔숄더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74060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https://www.youtube.com/watch?v=q-F-ujqDGJc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16840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상한가 다음날 갭하락 종목 </a:t>
            </a:r>
            <a:r>
              <a:rPr lang="en-US" altLang="ko-KR" dirty="0" smtClean="0"/>
              <a:t>(</a:t>
            </a:r>
            <a:r>
              <a:rPr lang="ko-KR" altLang="en-US" dirty="0" smtClean="0"/>
              <a:t>시간외 음봉</a:t>
            </a:r>
            <a:r>
              <a:rPr lang="en-US" altLang="ko-KR" dirty="0" smtClean="0"/>
              <a:t>) - </a:t>
            </a:r>
            <a:r>
              <a:rPr lang="ko-KR" altLang="en-US" dirty="0" smtClean="0"/>
              <a:t>세력매집</a:t>
            </a:r>
            <a:endParaRPr lang="en-US" altLang="ko-KR" dirty="0" smtClean="0"/>
          </a:p>
          <a:p>
            <a:r>
              <a:rPr lang="en-US" altLang="ko-KR" dirty="0" smtClean="0"/>
              <a:t>https://www.youtube.com/watch?v=ZPhgULiAPmY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09147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상전고 </a:t>
            </a:r>
            <a:r>
              <a:rPr lang="en-US" altLang="ko-KR" dirty="0" smtClean="0"/>
              <a:t>5</a:t>
            </a:r>
            <a:r>
              <a:rPr lang="ko-KR" altLang="en-US" dirty="0" smtClean="0"/>
              <a:t>퍽퍽 반등</a:t>
            </a:r>
            <a:endParaRPr lang="en-US" altLang="ko-KR" dirty="0" smtClean="0"/>
          </a:p>
          <a:p>
            <a:r>
              <a:rPr lang="en-US" altLang="ko-KR" dirty="0" smtClean="0"/>
              <a:t>https://www.youtube.com/watch?v=e7bol3I0jD0&amp;t=1565s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퍽 </a:t>
            </a:r>
            <a:r>
              <a:rPr lang="en-US" altLang="ko-KR" dirty="0" smtClean="0"/>
              <a:t>: </a:t>
            </a:r>
            <a:r>
              <a:rPr lang="ko-KR" altLang="en-US" dirty="0" smtClean="0"/>
              <a:t>거래량감소</a:t>
            </a:r>
            <a:endParaRPr lang="en-US" altLang="ko-KR" dirty="0" smtClean="0"/>
          </a:p>
          <a:p>
            <a:r>
              <a:rPr lang="ko-KR" altLang="en-US" dirty="0" smtClean="0"/>
              <a:t>거래량 감소가 핵심이며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언제가 거래량이 터지면서 </a:t>
            </a:r>
            <a:r>
              <a:rPr lang="ko-KR" altLang="en-US" dirty="0" err="1" smtClean="0"/>
              <a:t>슛팅이</a:t>
            </a:r>
            <a:r>
              <a:rPr lang="ko-KR" altLang="en-US" dirty="0" smtClean="0"/>
              <a:t> 나온다는 원리</a:t>
            </a:r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81426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5726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62717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데이짱 상한가 매매기법 </a:t>
            </a:r>
          </a:p>
          <a:p>
            <a:r>
              <a:rPr lang="en-US" altLang="ko-KR" dirty="0" smtClean="0"/>
              <a:t>https://www.youtube.com/watch?v=ghlQrcVGvSI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80142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데이짱 상한가 매매기법 </a:t>
            </a:r>
          </a:p>
          <a:p>
            <a:r>
              <a:rPr lang="en-US" altLang="ko-KR" smtClean="0"/>
              <a:t>https://www.youtube.com/watch?v=ghlQrcVGvSI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92841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78007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주식 단타 기법 공부 이 영상 하나로 종결</a:t>
            </a:r>
            <a:r>
              <a:rPr lang="en-US" altLang="ko-K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!! </a:t>
            </a:r>
            <a:r>
              <a:rPr lang="ko-KR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매일 </a:t>
            </a:r>
            <a:r>
              <a:rPr lang="en-US" altLang="ko-K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ko-KR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분만 단타 투자해서 제</a:t>
            </a:r>
            <a:r>
              <a:rPr lang="en-US" altLang="ko-K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월급 만드는 기법의 </a:t>
            </a:r>
            <a:r>
              <a:rPr lang="ko-KR" altLang="en-US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모든것</a:t>
            </a:r>
            <a:r>
              <a:rPr lang="en-US" altLang="ko-K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 </a:t>
            </a:r>
          </a:p>
          <a:p>
            <a:r>
              <a:rPr lang="en-US" altLang="ko-KR" dirty="0" smtClean="0"/>
              <a:t>https://www.youtube.com/watch?v=XbP9j5i_I3w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88691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5670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87359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8636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02598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70200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211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96239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47066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72944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70232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64465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42792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55062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58027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55626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67594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18442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447731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66674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977066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041714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754550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123643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148993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456957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171939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750919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09082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510481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020310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42291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91368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https://www.youtube.com/watch?v=q-F-ujqDGJc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543920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싱크홀 매매법 </a:t>
            </a:r>
            <a:r>
              <a:rPr lang="en-US" altLang="ko-K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:: 60</a:t>
            </a:r>
            <a:r>
              <a:rPr lang="ko-KR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억 벌고 전하는 조언 그냥 이거 따라하세요</a:t>
            </a:r>
          </a:p>
          <a:p>
            <a:r>
              <a:rPr lang="en-US" altLang="ko-KR" dirty="0" smtClean="0"/>
              <a:t>https://www.youtube.com/watch?v=Qfa3_oHvu0I&amp;t=1s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7398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싱크홀 매매법 </a:t>
            </a:r>
            <a:r>
              <a:rPr lang="en-US" altLang="ko-K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:: 60</a:t>
            </a:r>
            <a:r>
              <a:rPr lang="ko-KR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억 벌고 전하는 조언 그냥 이거 따라하세요</a:t>
            </a:r>
          </a:p>
          <a:p>
            <a:r>
              <a:rPr lang="en-US" altLang="ko-KR" dirty="0" smtClean="0"/>
              <a:t>https://www.youtube.com/watch?v=Qfa3_oHvu0I&amp;t=1s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812908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싱크홀 매매법 </a:t>
            </a:r>
            <a:r>
              <a:rPr lang="en-US" altLang="ko-K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:: 60</a:t>
            </a:r>
            <a:r>
              <a:rPr lang="ko-KR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억 벌고 전하는 조언 그냥 이거 따라하세요</a:t>
            </a:r>
          </a:p>
          <a:p>
            <a:r>
              <a:rPr lang="en-US" altLang="ko-KR" dirty="0" smtClean="0"/>
              <a:t>https://www.youtube.com/watch?v=Qfa3_oHvu0I&amp;t=1s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97165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596221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875309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6826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g object 16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828800" y="2125980"/>
            <a:ext cx="9448800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590800" y="3840480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52600" y="1493520"/>
            <a:ext cx="9753600" cy="4526280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524000" y="1577340"/>
            <a:ext cx="49530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705600" y="1577340"/>
            <a:ext cx="49530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g object 16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  <p:txBody>
          <a:bodyPr wrap="square" lIns="0" tIns="0" rIns="0" bIns="0" rtlCol="0"/>
          <a:lstStyle/>
          <a:p>
            <a:endParaRPr>
              <a:solidFill>
                <a:schemeClr val="bg2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600" y="2236470"/>
            <a:ext cx="10035540" cy="492443"/>
          </a:xfrm>
        </p:spPr>
        <p:txBody>
          <a:bodyPr lIns="0" tIns="0" rIns="0" bIns="0"/>
          <a:lstStyle>
            <a:lvl1pPr>
              <a:defRPr sz="3200" b="1" i="0">
                <a:solidFill>
                  <a:schemeClr val="bg2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70926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bg object 16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17"/>
          <p:cNvSpPr/>
          <p:nvPr userDrawn="1"/>
        </p:nvSpPr>
        <p:spPr>
          <a:xfrm>
            <a:off x="5181601" y="0"/>
            <a:ext cx="7010526" cy="6858000"/>
          </a:xfrm>
          <a:custGeom>
            <a:avLst/>
            <a:gdLst/>
            <a:ahLst/>
            <a:cxnLst/>
            <a:rect l="l" t="t" r="r" b="b"/>
            <a:pathLst>
              <a:path w="4438015" h="6858000">
                <a:moveTo>
                  <a:pt x="4437888" y="0"/>
                </a:moveTo>
                <a:lnTo>
                  <a:pt x="3979418" y="0"/>
                </a:lnTo>
                <a:lnTo>
                  <a:pt x="0" y="6857999"/>
                </a:lnTo>
                <a:lnTo>
                  <a:pt x="4437888" y="6857999"/>
                </a:lnTo>
                <a:lnTo>
                  <a:pt x="4437888" y="0"/>
                </a:lnTo>
                <a:close/>
              </a:path>
            </a:pathLst>
          </a:custGeom>
          <a:gradFill>
            <a:gsLst>
              <a:gs pos="25000">
                <a:srgbClr val="0070C0"/>
              </a:gs>
              <a:gs pos="0">
                <a:schemeClr val="accent5">
                  <a:lumMod val="50000"/>
                </a:schemeClr>
              </a:gs>
              <a:gs pos="50000">
                <a:srgbClr val="00B050"/>
              </a:gs>
              <a:gs pos="75000">
                <a:srgbClr val="FFC000"/>
              </a:gs>
              <a:gs pos="100000">
                <a:srgbClr val="FF0000"/>
              </a:gs>
            </a:gsLst>
            <a:lin ang="0" scaled="0"/>
          </a:gra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1"/>
          <p:cNvSpPr/>
          <p:nvPr userDrawn="1"/>
        </p:nvSpPr>
        <p:spPr>
          <a:xfrm>
            <a:off x="1353311" y="210311"/>
            <a:ext cx="10838815" cy="6437630"/>
          </a:xfrm>
          <a:custGeom>
            <a:avLst/>
            <a:gdLst/>
            <a:ahLst/>
            <a:cxnLst/>
            <a:rect l="l" t="t" r="r" b="b"/>
            <a:pathLst>
              <a:path w="10838815" h="6437630">
                <a:moveTo>
                  <a:pt x="10838688" y="0"/>
                </a:moveTo>
                <a:lnTo>
                  <a:pt x="0" y="0"/>
                </a:lnTo>
                <a:lnTo>
                  <a:pt x="0" y="6437375"/>
                </a:lnTo>
                <a:lnTo>
                  <a:pt x="10838688" y="6437375"/>
                </a:lnTo>
                <a:lnTo>
                  <a:pt x="1083868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16"/>
          <p:cNvSpPr/>
          <p:nvPr userDrawn="1"/>
        </p:nvSpPr>
        <p:spPr>
          <a:xfrm>
            <a:off x="-304542" y="0"/>
            <a:ext cx="380742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353311" y="210311"/>
            <a:ext cx="10838815" cy="6437630"/>
          </a:xfrm>
          <a:custGeom>
            <a:avLst/>
            <a:gdLst/>
            <a:ahLst/>
            <a:cxnLst/>
            <a:rect l="l" t="t" r="r" b="b"/>
            <a:pathLst>
              <a:path w="10838815" h="6437630">
                <a:moveTo>
                  <a:pt x="10838688" y="0"/>
                </a:moveTo>
                <a:lnTo>
                  <a:pt x="0" y="0"/>
                </a:lnTo>
                <a:lnTo>
                  <a:pt x="0" y="6437375"/>
                </a:lnTo>
                <a:lnTo>
                  <a:pt x="10838688" y="6437375"/>
                </a:lnTo>
                <a:lnTo>
                  <a:pt x="1083868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70660" y="355600"/>
            <a:ext cx="1003554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04569" y="1493520"/>
            <a:ext cx="10001631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26" name="bg object 16"/>
          <p:cNvSpPr/>
          <p:nvPr userDrawn="1"/>
        </p:nvSpPr>
        <p:spPr>
          <a:xfrm>
            <a:off x="1470660" y="1097281"/>
            <a:ext cx="10590896" cy="45719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6200" y="6299418"/>
            <a:ext cx="1268078" cy="50601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7" r:id="rId5"/>
    <p:sldLayoutId id="2147483665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057400" y="2125980"/>
            <a:ext cx="9448800" cy="615553"/>
          </a:xfrm>
        </p:spPr>
        <p:txBody>
          <a:bodyPr/>
          <a:lstStyle/>
          <a:p>
            <a:r>
              <a:rPr lang="en-US" altLang="ko-KR" dirty="0" smtClean="0">
                <a:latin typeface="Snap ITC" panose="04040A07060A02020202" pitchFamily="82" charset="0"/>
              </a:rPr>
              <a:t>GritBS Stock Techniques</a:t>
            </a:r>
            <a:endParaRPr lang="ko-KR" altLang="en-US" dirty="0">
              <a:latin typeface="Snap ITC" panose="04040A07060A02020202" pitchFamily="82" charset="0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4"/>
          </p:nvPr>
        </p:nvSpPr>
        <p:spPr>
          <a:xfrm>
            <a:off x="2590800" y="3840480"/>
            <a:ext cx="8534400" cy="276999"/>
          </a:xfrm>
        </p:spPr>
        <p:txBody>
          <a:bodyPr/>
          <a:lstStyle/>
          <a:p>
            <a:r>
              <a:rPr lang="ko-KR" altLang="en-US" dirty="0" smtClean="0"/>
              <a:t>상한가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돈버는</a:t>
            </a:r>
            <a:r>
              <a:rPr lang="ko-KR" altLang="en-US" dirty="0" smtClean="0"/>
              <a:t> 투자 </a:t>
            </a:r>
            <a:r>
              <a:rPr lang="en-US" altLang="ko-KR" dirty="0" smtClean="0"/>
              <a:t>:: </a:t>
            </a:r>
            <a:r>
              <a:rPr lang="ko-KR" altLang="en-US" dirty="0" smtClean="0"/>
              <a:t>단타기</a:t>
            </a:r>
            <a:r>
              <a:rPr lang="ko-KR" altLang="en-US" dirty="0" smtClean="0"/>
              <a:t>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7627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INDEX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752600" y="1493520"/>
            <a:ext cx="9753600" cy="3693319"/>
          </a:xfrm>
        </p:spPr>
        <p:txBody>
          <a:bodyPr/>
          <a:lstStyle/>
          <a:p>
            <a:r>
              <a:rPr lang="en-US" altLang="ko-KR" sz="2400" b="1" dirty="0">
                <a:latin typeface="+mn-ea"/>
              </a:rPr>
              <a:t>01. </a:t>
            </a:r>
            <a:r>
              <a:rPr lang="ko-KR" altLang="en-US" sz="2400" b="1" dirty="0" smtClean="0">
                <a:latin typeface="+mn-ea"/>
              </a:rPr>
              <a:t>삼각수렴</a:t>
            </a:r>
            <a:endParaRPr lang="en-US" altLang="ko-KR" sz="2400" b="1" dirty="0">
              <a:latin typeface="+mn-ea"/>
            </a:endParaRPr>
          </a:p>
          <a:p>
            <a:endParaRPr lang="en-US" altLang="ko-KR" sz="2400" b="1" dirty="0">
              <a:latin typeface="+mn-ea"/>
            </a:endParaRPr>
          </a:p>
          <a:p>
            <a:r>
              <a:rPr lang="en-US" altLang="ko-KR" sz="2400" b="1" dirty="0">
                <a:latin typeface="+mn-ea"/>
              </a:rPr>
              <a:t>02. </a:t>
            </a:r>
            <a:r>
              <a:rPr lang="ko-KR" altLang="en-US" sz="2400" b="1" dirty="0" smtClean="0">
                <a:latin typeface="+mn-ea"/>
              </a:rPr>
              <a:t>웻지 패턴</a:t>
            </a:r>
            <a:endParaRPr lang="en-US" altLang="ko-KR" sz="2400" b="1" dirty="0">
              <a:latin typeface="+mn-ea"/>
            </a:endParaRPr>
          </a:p>
          <a:p>
            <a:endParaRPr lang="en-US" altLang="ko-KR" sz="2400" b="1" dirty="0">
              <a:latin typeface="+mn-ea"/>
            </a:endParaRPr>
          </a:p>
          <a:p>
            <a:r>
              <a:rPr lang="en-US" altLang="ko-KR" sz="2400" b="1" dirty="0">
                <a:latin typeface="+mn-ea"/>
              </a:rPr>
              <a:t>03. </a:t>
            </a:r>
            <a:r>
              <a:rPr lang="ko-KR" altLang="en-US" sz="2400" b="1" dirty="0" smtClean="0">
                <a:latin typeface="+mn-ea"/>
              </a:rPr>
              <a:t>플래그 패턴</a:t>
            </a:r>
            <a:endParaRPr lang="en-US" altLang="ko-KR" sz="2400" b="1" dirty="0">
              <a:latin typeface="+mn-ea"/>
            </a:endParaRPr>
          </a:p>
          <a:p>
            <a:endParaRPr lang="en-US" altLang="ko-KR" sz="2400" b="1" dirty="0">
              <a:latin typeface="+mn-ea"/>
            </a:endParaRPr>
          </a:p>
          <a:p>
            <a:r>
              <a:rPr lang="en-US" altLang="ko-KR" sz="2400" b="1" dirty="0">
                <a:latin typeface="+mn-ea"/>
              </a:rPr>
              <a:t>04. </a:t>
            </a:r>
            <a:r>
              <a:rPr lang="ko-KR" altLang="en-US" sz="2400" b="1" dirty="0" smtClean="0">
                <a:latin typeface="+mn-ea"/>
              </a:rPr>
              <a:t>쌍봉 패턴</a:t>
            </a:r>
            <a:endParaRPr lang="en-US" altLang="ko-KR" sz="2400" b="1" dirty="0" smtClean="0">
              <a:latin typeface="+mn-ea"/>
            </a:endParaRPr>
          </a:p>
          <a:p>
            <a:endParaRPr lang="en-US" altLang="ko-KR" sz="2400" b="1" dirty="0">
              <a:latin typeface="+mn-ea"/>
            </a:endParaRPr>
          </a:p>
          <a:p>
            <a:r>
              <a:rPr lang="en-US" altLang="ko-KR" sz="2400" b="1" dirty="0" smtClean="0">
                <a:latin typeface="+mn-ea"/>
              </a:rPr>
              <a:t>05. </a:t>
            </a:r>
            <a:r>
              <a:rPr lang="ko-KR" altLang="en-US" sz="2400" b="1" dirty="0" smtClean="0">
                <a:latin typeface="+mn-ea"/>
              </a:rPr>
              <a:t>헤드엔숄더 패턴</a:t>
            </a:r>
            <a:endParaRPr lang="en-US" altLang="ko-KR" sz="2400" b="1" dirty="0">
              <a:latin typeface="+mn-ea"/>
            </a:endParaRPr>
          </a:p>
          <a:p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79564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01. </a:t>
            </a:r>
            <a:r>
              <a:rPr lang="ko-KR" altLang="en-US" dirty="0" smtClean="0"/>
              <a:t>상한가 매매기법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1273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상한가 다음날 갭하락 종목 </a:t>
            </a:r>
            <a:r>
              <a:rPr lang="en-US" altLang="ko-KR" dirty="0" smtClean="0"/>
              <a:t>(</a:t>
            </a:r>
            <a:r>
              <a:rPr lang="ko-KR" altLang="en-US" dirty="0" smtClean="0"/>
              <a:t>시간외 음봉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481542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r>
              <a:rPr lang="en-US" altLang="ko-KR" sz="1100" dirty="0">
                <a:solidFill>
                  <a:srgbClr val="FFFFFF"/>
                </a:solidFill>
                <a:latin typeface="맑은 고딕"/>
                <a:cs typeface="맑은 고딕"/>
              </a:rPr>
              <a:t/>
            </a:r>
            <a:br>
              <a:rPr lang="en-US" altLang="ko-KR" sz="1100" dirty="0">
                <a:solidFill>
                  <a:srgbClr val="FFFFFF"/>
                </a:solidFill>
                <a:latin typeface="맑은 고딕"/>
                <a:cs typeface="맑은 고딕"/>
              </a:rPr>
            </a:b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갭하락 종목</a:t>
            </a:r>
            <a:endParaRPr lang="en-US" sz="1100" dirty="0">
              <a:solidFill>
                <a:srgbClr val="FFFFFF"/>
              </a:solidFill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1426774"/>
            <a:ext cx="6547013" cy="37548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7200" y="1676400"/>
            <a:ext cx="4233851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상한가는 세력이 어떤 의도를 가지고 보내는 것이다</a:t>
            </a:r>
            <a:r>
              <a:rPr lang="en-US" altLang="ko-KR" sz="1200" dirty="0"/>
              <a:t>. </a:t>
            </a:r>
          </a:p>
          <a:p>
            <a:r>
              <a:rPr lang="ko-KR" altLang="en-US" sz="1200" dirty="0"/>
              <a:t>상한가 다음날 시가가 갭하락으로 시작</a:t>
            </a:r>
            <a:r>
              <a:rPr lang="en-US" altLang="ko-KR" sz="1200" dirty="0"/>
              <a:t>???</a:t>
            </a:r>
          </a:p>
          <a:p>
            <a:r>
              <a:rPr lang="ko-KR" altLang="en-US" sz="1200" dirty="0"/>
              <a:t>세력이 개미들의 물량을 뺏으려고 매집하는 </a:t>
            </a:r>
            <a:r>
              <a:rPr lang="ko-KR" altLang="en-US" sz="1200" dirty="0" smtClean="0"/>
              <a:t>방법이다</a:t>
            </a:r>
            <a:r>
              <a:rPr lang="en-US" altLang="ko-KR" sz="1200" dirty="0"/>
              <a:t>. </a:t>
            </a:r>
          </a:p>
          <a:p>
            <a:r>
              <a:rPr lang="ko-KR" altLang="en-US" sz="1200" dirty="0"/>
              <a:t>즉</a:t>
            </a:r>
            <a:r>
              <a:rPr lang="en-US" altLang="ko-KR" sz="1200" dirty="0"/>
              <a:t>, </a:t>
            </a:r>
            <a:r>
              <a:rPr lang="ko-KR" altLang="en-US" sz="1200" dirty="0"/>
              <a:t>상한가 아래에서 등락을 주면서 매집을 한다</a:t>
            </a:r>
            <a:r>
              <a:rPr lang="en-US" altLang="ko-KR" sz="1200" dirty="0"/>
              <a:t>. </a:t>
            </a:r>
            <a:endParaRPr lang="en-US" altLang="ko-KR" sz="1200" dirty="0" smtClean="0"/>
          </a:p>
          <a:p>
            <a:endParaRPr lang="en-US" altLang="ko-KR" sz="1200" dirty="0" smtClean="0"/>
          </a:p>
          <a:p>
            <a:r>
              <a:rPr lang="ko-KR" altLang="en-US" sz="1200" dirty="0" smtClean="0"/>
              <a:t>보통 상한가 다음날 긴꼬리 다는 음봉이 나올 확률이 높지만</a:t>
            </a:r>
            <a:r>
              <a:rPr lang="en-US" altLang="ko-KR" sz="1200" dirty="0" smtClean="0"/>
              <a:t>, </a:t>
            </a:r>
          </a:p>
          <a:p>
            <a:r>
              <a:rPr lang="ko-KR" altLang="en-US" sz="1200" dirty="0" smtClean="0"/>
              <a:t>연속 상따 할 수도 있다</a:t>
            </a:r>
            <a:r>
              <a:rPr lang="en-US" altLang="ko-KR" sz="1200" dirty="0" smtClean="0"/>
              <a:t>.  </a:t>
            </a:r>
            <a:r>
              <a:rPr lang="en-US" altLang="ko-KR" sz="1200" dirty="0" smtClean="0">
                <a:sym typeface="Wingdings" panose="05000000000000000000" pitchFamily="2" charset="2"/>
              </a:rPr>
              <a:t> </a:t>
            </a:r>
            <a:r>
              <a:rPr lang="ko-KR" altLang="en-US" sz="1200" dirty="0" smtClean="0">
                <a:sym typeface="Wingdings" panose="05000000000000000000" pitchFamily="2" charset="2"/>
              </a:rPr>
              <a:t>분할매도</a:t>
            </a:r>
            <a:r>
              <a:rPr lang="en-US" altLang="ko-KR" sz="1200" dirty="0" smtClean="0">
                <a:sym typeface="Wingdings" panose="05000000000000000000" pitchFamily="2" charset="2"/>
              </a:rPr>
              <a:t>, </a:t>
            </a:r>
            <a:r>
              <a:rPr lang="ko-KR" altLang="en-US" sz="1200" dirty="0" smtClean="0">
                <a:sym typeface="Wingdings" panose="05000000000000000000" pitchFamily="2" charset="2"/>
              </a:rPr>
              <a:t>대응이 중요</a:t>
            </a:r>
            <a:endParaRPr lang="en-US" altLang="ko-KR" sz="1200" dirty="0" smtClean="0"/>
          </a:p>
          <a:p>
            <a:endParaRPr lang="en-US" altLang="ko-KR" sz="1200" dirty="0" smtClean="0"/>
          </a:p>
          <a:p>
            <a:pPr marL="228600" indent="-228600">
              <a:buAutoNum type="arabicParenR"/>
            </a:pPr>
            <a:r>
              <a:rPr lang="ko-KR" altLang="en-US" sz="1200" dirty="0" smtClean="0"/>
              <a:t>첫번째 상한가 종목들의 시간외 거래에서 마이너스 종목</a:t>
            </a:r>
            <a:r>
              <a:rPr lang="en-US" altLang="ko-KR" sz="1200" dirty="0" smtClean="0"/>
              <a:t/>
            </a:r>
            <a:br>
              <a:rPr lang="en-US" altLang="ko-KR" sz="1200" dirty="0" smtClean="0"/>
            </a:br>
            <a:r>
              <a:rPr lang="en-US" altLang="ko-KR" sz="1200" dirty="0" smtClean="0">
                <a:sym typeface="Wingdings" panose="05000000000000000000" pitchFamily="2" charset="2"/>
              </a:rPr>
              <a:t> </a:t>
            </a:r>
            <a:r>
              <a:rPr lang="ko-KR" altLang="en-US" sz="1200" dirty="0" smtClean="0">
                <a:sym typeface="Wingdings" panose="05000000000000000000" pitchFamily="2" charset="2"/>
              </a:rPr>
              <a:t>종가베팅 혹은 장초매수</a:t>
            </a:r>
            <a:endParaRPr lang="en-US" altLang="ko-KR" sz="1200" dirty="0" smtClean="0">
              <a:sym typeface="Wingdings" panose="05000000000000000000" pitchFamily="2" charset="2"/>
            </a:endParaRPr>
          </a:p>
          <a:p>
            <a:pPr marL="228600" indent="-228600">
              <a:buAutoNum type="arabicParenR"/>
            </a:pPr>
            <a:endParaRPr lang="en-US" altLang="ko-KR" sz="1200" dirty="0">
              <a:sym typeface="Wingdings" panose="05000000000000000000" pitchFamily="2" charset="2"/>
            </a:endParaRPr>
          </a:p>
          <a:p>
            <a:pPr marL="228600" indent="-228600">
              <a:buAutoNum type="arabicParenR"/>
            </a:pPr>
            <a:r>
              <a:rPr lang="ko-KR" altLang="en-US" sz="1200" dirty="0"/>
              <a:t>갭하락이 </a:t>
            </a:r>
            <a:r>
              <a:rPr lang="en-US" altLang="ko-KR" sz="1200" dirty="0"/>
              <a:t>-5% </a:t>
            </a:r>
            <a:r>
              <a:rPr lang="ko-KR" altLang="en-US" sz="1200" dirty="0"/>
              <a:t>이하인 경우는 보류</a:t>
            </a:r>
            <a:endParaRPr lang="en-US" altLang="ko-KR" sz="1200" dirty="0" smtClean="0">
              <a:sym typeface="Wingdings" panose="05000000000000000000" pitchFamily="2" charset="2"/>
            </a:endParaRPr>
          </a:p>
          <a:p>
            <a:pPr marL="228600" indent="-228600">
              <a:buAutoNum type="arabicParenR"/>
            </a:pPr>
            <a:endParaRPr lang="en-US" altLang="ko-KR" sz="1200" dirty="0" smtClean="0"/>
          </a:p>
          <a:p>
            <a:pPr marL="228600" indent="-228600">
              <a:buAutoNum type="arabicParenR"/>
            </a:pPr>
            <a:r>
              <a:rPr lang="ko-KR" altLang="en-US" sz="1200" dirty="0" smtClean="0"/>
              <a:t>익절은 </a:t>
            </a:r>
            <a:r>
              <a:rPr lang="en-US" altLang="ko-KR" sz="1200" dirty="0" smtClean="0"/>
              <a:t>5% </a:t>
            </a:r>
            <a:r>
              <a:rPr lang="ko-KR" altLang="en-US" sz="1200" dirty="0" smtClean="0"/>
              <a:t>단위로 분할 매도 </a:t>
            </a:r>
            <a:endParaRPr lang="en-US" altLang="ko-KR" sz="1200" dirty="0" smtClean="0"/>
          </a:p>
          <a:p>
            <a:pPr marL="228600" indent="-228600">
              <a:buAutoNum type="arabicParenR"/>
            </a:pPr>
            <a:endParaRPr lang="en-US" altLang="ko-KR" sz="1200" dirty="0"/>
          </a:p>
          <a:p>
            <a:pPr marL="228600" indent="-228600">
              <a:buAutoNum type="arabicParenR"/>
            </a:pPr>
            <a:r>
              <a:rPr lang="ko-KR" altLang="en-US" sz="1200" dirty="0" smtClean="0"/>
              <a:t>손절은 </a:t>
            </a:r>
            <a:r>
              <a:rPr lang="en-US" altLang="ko-KR" sz="1200" dirty="0" smtClean="0"/>
              <a:t>-5% </a:t>
            </a:r>
            <a:r>
              <a:rPr lang="ko-KR" altLang="en-US" sz="1200" dirty="0" smtClean="0"/>
              <a:t>이탈 시 전량 매도</a:t>
            </a:r>
            <a:r>
              <a:rPr lang="en-US" altLang="ko-KR" sz="1200" dirty="0" smtClean="0"/>
              <a:t/>
            </a:r>
            <a:br>
              <a:rPr lang="en-US" altLang="ko-KR" sz="1200" dirty="0" smtClean="0"/>
            </a:br>
            <a:r>
              <a:rPr lang="en-US" altLang="ko-KR" sz="1200" dirty="0" smtClean="0">
                <a:sym typeface="Wingdings" panose="05000000000000000000" pitchFamily="2" charset="2"/>
              </a:rPr>
              <a:t> </a:t>
            </a:r>
            <a:r>
              <a:rPr lang="ko-KR" altLang="en-US" sz="1200" dirty="0" smtClean="0">
                <a:sym typeface="Wingdings" panose="05000000000000000000" pitchFamily="2" charset="2"/>
              </a:rPr>
              <a:t>장초에 갭하락 후 반등자리 확인 후 매수 </a:t>
            </a:r>
            <a:r>
              <a:rPr lang="en-US" altLang="ko-KR" sz="1200" dirty="0" smtClean="0">
                <a:sym typeface="Wingdings" panose="05000000000000000000" pitchFamily="2" charset="2"/>
              </a:rPr>
              <a:t>(</a:t>
            </a:r>
            <a:r>
              <a:rPr lang="ko-KR" altLang="en-US" sz="1200" dirty="0" smtClean="0">
                <a:sym typeface="Wingdings" panose="05000000000000000000" pitchFamily="2" charset="2"/>
              </a:rPr>
              <a:t>리스크관리</a:t>
            </a:r>
            <a:r>
              <a:rPr lang="en-US" altLang="ko-KR" sz="1200" dirty="0" smtClean="0">
                <a:sym typeface="Wingdings" panose="05000000000000000000" pitchFamily="2" charset="2"/>
              </a:rPr>
              <a:t>)</a:t>
            </a:r>
            <a:br>
              <a:rPr lang="en-US" altLang="ko-KR" sz="1200" dirty="0" smtClean="0">
                <a:sym typeface="Wingdings" panose="05000000000000000000" pitchFamily="2" charset="2"/>
              </a:rPr>
            </a:br>
            <a:r>
              <a:rPr lang="en-US" altLang="ko-KR" sz="1200" dirty="0" smtClean="0">
                <a:sym typeface="Wingdings" panose="05000000000000000000" pitchFamily="2" charset="2"/>
              </a:rPr>
              <a:t> -5% </a:t>
            </a:r>
            <a:r>
              <a:rPr lang="ko-KR" altLang="en-US" sz="1200" dirty="0" smtClean="0">
                <a:sym typeface="Wingdings" panose="05000000000000000000" pitchFamily="2" charset="2"/>
              </a:rPr>
              <a:t>아래로 내려가면 제외시킨다</a:t>
            </a:r>
            <a:r>
              <a:rPr lang="en-US" altLang="ko-KR" sz="1200" dirty="0" smtClean="0">
                <a:sym typeface="Wingdings" panose="05000000000000000000" pitchFamily="2" charset="2"/>
              </a:rPr>
              <a:t>. 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725627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상전고 패턴 </a:t>
            </a:r>
            <a:r>
              <a:rPr lang="en-US" altLang="ko-KR" dirty="0" smtClean="0"/>
              <a:t>: </a:t>
            </a:r>
            <a:r>
              <a:rPr lang="ko-KR" altLang="en-US" dirty="0" smtClean="0"/>
              <a:t>거래량 눌림자리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상전고패턴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215" y="1447800"/>
            <a:ext cx="4657725" cy="4953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39000" y="1600200"/>
            <a:ext cx="4600940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거래량</a:t>
            </a:r>
            <a:r>
              <a:rPr lang="en-US" altLang="ko-KR" dirty="0"/>
              <a:t>0 : </a:t>
            </a:r>
            <a:r>
              <a:rPr lang="ko-KR" altLang="en-US" dirty="0"/>
              <a:t>상한가</a:t>
            </a:r>
            <a:r>
              <a:rPr lang="en-US" altLang="ko-KR" dirty="0"/>
              <a:t>+0</a:t>
            </a:r>
            <a:r>
              <a:rPr lang="ko-KR" altLang="en-US" dirty="0"/>
              <a:t>일 거래량</a:t>
            </a:r>
          </a:p>
          <a:p>
            <a:r>
              <a:rPr lang="ko-KR" altLang="en-US" dirty="0"/>
              <a:t>거래량</a:t>
            </a:r>
            <a:r>
              <a:rPr lang="en-US" altLang="ko-KR" dirty="0"/>
              <a:t>1 : </a:t>
            </a:r>
            <a:r>
              <a:rPr lang="ko-KR" altLang="en-US" dirty="0"/>
              <a:t>상한가</a:t>
            </a:r>
            <a:r>
              <a:rPr lang="en-US" altLang="ko-KR" dirty="0"/>
              <a:t>+1</a:t>
            </a:r>
            <a:r>
              <a:rPr lang="ko-KR" altLang="en-US" dirty="0"/>
              <a:t>일 거래량</a:t>
            </a:r>
          </a:p>
          <a:p>
            <a:r>
              <a:rPr lang="ko-KR" altLang="en-US" dirty="0"/>
              <a:t>거래량</a:t>
            </a:r>
            <a:r>
              <a:rPr lang="en-US" altLang="ko-KR" dirty="0"/>
              <a:t>2 : </a:t>
            </a:r>
            <a:r>
              <a:rPr lang="ko-KR" altLang="en-US" dirty="0"/>
              <a:t>상한가</a:t>
            </a:r>
            <a:r>
              <a:rPr lang="en-US" altLang="ko-KR" dirty="0"/>
              <a:t>+2</a:t>
            </a:r>
            <a:r>
              <a:rPr lang="ko-KR" altLang="en-US" dirty="0"/>
              <a:t>일 거래량</a:t>
            </a:r>
          </a:p>
          <a:p>
            <a:endParaRPr lang="ko-KR" altLang="en-US" dirty="0"/>
          </a:p>
          <a:p>
            <a:r>
              <a:rPr lang="ko-KR" altLang="en-US" dirty="0"/>
              <a:t>거래량</a:t>
            </a:r>
            <a:r>
              <a:rPr lang="en-US" altLang="ko-KR" dirty="0"/>
              <a:t>1 &gt; </a:t>
            </a:r>
            <a:r>
              <a:rPr lang="ko-KR" altLang="en-US" dirty="0"/>
              <a:t>거래량</a:t>
            </a:r>
            <a:r>
              <a:rPr lang="en-US" altLang="ko-KR" dirty="0"/>
              <a:t>0</a:t>
            </a:r>
          </a:p>
          <a:p>
            <a:r>
              <a:rPr lang="ko-KR" altLang="en-US" dirty="0"/>
              <a:t>거래량</a:t>
            </a:r>
            <a:r>
              <a:rPr lang="en-US" altLang="ko-KR" dirty="0"/>
              <a:t>1 &gt; </a:t>
            </a:r>
            <a:r>
              <a:rPr lang="ko-KR" altLang="en-US" dirty="0"/>
              <a:t>거래량</a:t>
            </a:r>
            <a:r>
              <a:rPr lang="en-US" altLang="ko-KR" dirty="0"/>
              <a:t>2</a:t>
            </a:r>
          </a:p>
          <a:p>
            <a:r>
              <a:rPr lang="ko-KR" altLang="en-US" dirty="0" err="1" smtClean="0"/>
              <a:t>상한가다음날</a:t>
            </a:r>
            <a:r>
              <a:rPr lang="ko-KR" altLang="en-US" dirty="0" smtClean="0"/>
              <a:t> 음봉이면 좋다</a:t>
            </a:r>
            <a:endParaRPr lang="en-US" altLang="ko-KR" dirty="0" smtClean="0"/>
          </a:p>
          <a:p>
            <a:r>
              <a:rPr lang="ko-KR" altLang="en-US" dirty="0" err="1" smtClean="0"/>
              <a:t>상한가다음다음날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단봉이면</a:t>
            </a:r>
            <a:r>
              <a:rPr lang="ko-KR" altLang="en-US" dirty="0" smtClean="0"/>
              <a:t> 좋다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주가는 </a:t>
            </a:r>
            <a:r>
              <a:rPr lang="en-US" altLang="ko-KR" dirty="0" smtClean="0"/>
              <a:t>5</a:t>
            </a:r>
            <a:r>
              <a:rPr lang="ko-KR" altLang="en-US" dirty="0"/>
              <a:t>일선 위에 있어야 함</a:t>
            </a:r>
            <a:endParaRPr lang="en-US" altLang="ko-KR" dirty="0"/>
          </a:p>
          <a:p>
            <a:r>
              <a:rPr lang="ko-KR" altLang="en-US" dirty="0" err="1" smtClean="0"/>
              <a:t>거래량눌림이</a:t>
            </a:r>
            <a:r>
              <a:rPr lang="ko-KR" altLang="en-US" dirty="0" smtClean="0"/>
              <a:t> 핵심</a:t>
            </a:r>
            <a:endParaRPr lang="en-US" altLang="ko-KR" dirty="0" smtClean="0"/>
          </a:p>
          <a:p>
            <a:r>
              <a:rPr lang="en-US" altLang="ko-KR" dirty="0" smtClean="0"/>
              <a:t>4</a:t>
            </a:r>
            <a:r>
              <a:rPr lang="ko-KR" altLang="en-US" dirty="0" smtClean="0"/>
              <a:t>번에서 슈팅이 </a:t>
            </a:r>
            <a:r>
              <a:rPr lang="ko-KR" altLang="en-US" dirty="0" err="1" smtClean="0"/>
              <a:t>안나오고</a:t>
            </a:r>
            <a:r>
              <a:rPr lang="ko-KR" altLang="en-US" dirty="0" smtClean="0"/>
              <a:t> 감소할 수도 있다</a:t>
            </a:r>
            <a:r>
              <a:rPr lang="en-US" altLang="ko-KR" dirty="0" smtClean="0"/>
              <a:t>. </a:t>
            </a:r>
          </a:p>
          <a:p>
            <a:r>
              <a:rPr lang="ko-KR" altLang="en-US" dirty="0" smtClean="0"/>
              <a:t>하지만</a:t>
            </a:r>
            <a:r>
              <a:rPr lang="en-US" altLang="ko-KR" dirty="0" smtClean="0"/>
              <a:t>, </a:t>
            </a:r>
            <a:r>
              <a:rPr lang="ko-KR" altLang="en-US" dirty="0" smtClean="0"/>
              <a:t>언젠가 슈팅이 나온다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거래량이 감소하다가</a:t>
            </a:r>
            <a:r>
              <a:rPr lang="en-US" altLang="ko-KR" dirty="0" smtClean="0"/>
              <a:t>, </a:t>
            </a:r>
            <a:r>
              <a:rPr lang="ko-KR" altLang="en-US" dirty="0" smtClean="0"/>
              <a:t>거래량이 </a:t>
            </a:r>
            <a:r>
              <a:rPr lang="ko-KR" altLang="en-US" dirty="0" err="1" smtClean="0"/>
              <a:t>터질때</a:t>
            </a:r>
            <a:r>
              <a:rPr lang="ko-KR" altLang="en-US" dirty="0" smtClean="0"/>
              <a:t> 매수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반드시 분할매수</a:t>
            </a:r>
            <a:endParaRPr lang="en-US" altLang="ko-KR" dirty="0" smtClean="0"/>
          </a:p>
          <a:p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39778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상전고 패턴 </a:t>
            </a:r>
            <a:r>
              <a:rPr lang="en-US" altLang="ko-KR" dirty="0"/>
              <a:t>: </a:t>
            </a:r>
            <a:r>
              <a:rPr lang="ko-KR" altLang="en-US" dirty="0"/>
              <a:t>거래량 눌림자리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219200"/>
            <a:ext cx="11229975" cy="5114925"/>
          </a:xfrm>
          <a:prstGeom prst="rect">
            <a:avLst/>
          </a:prstGeom>
        </p:spPr>
      </p:pic>
      <p:sp>
        <p:nvSpPr>
          <p:cNvPr id="8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상전고패턴</a:t>
            </a:r>
            <a:endParaRPr sz="1100" dirty="0">
              <a:latin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678168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상전고 패턴 </a:t>
            </a:r>
            <a:r>
              <a:rPr lang="en-US" altLang="ko-KR" dirty="0"/>
              <a:t>: </a:t>
            </a:r>
            <a:r>
              <a:rPr lang="ko-KR" altLang="en-US" dirty="0"/>
              <a:t>거래량 눌림자리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219200"/>
            <a:ext cx="11229975" cy="5114925"/>
          </a:xfrm>
          <a:prstGeom prst="rect">
            <a:avLst/>
          </a:prstGeom>
        </p:spPr>
      </p:pic>
      <p:sp>
        <p:nvSpPr>
          <p:cNvPr id="5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상전고패턴</a:t>
            </a:r>
            <a:endParaRPr sz="1100" dirty="0">
              <a:latin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246551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데이짱 상한가 매매기법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데이짱 상따조언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659" y="1241714"/>
            <a:ext cx="9135341" cy="508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452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데이짱 상한가 매매기법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데이짱 상따조언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659" y="1241714"/>
            <a:ext cx="9135341" cy="5082886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532659" y="1241714"/>
            <a:ext cx="9135341" cy="5082886"/>
          </a:xfrm>
          <a:prstGeom prst="rect">
            <a:avLst/>
          </a:prstGeom>
          <a:solidFill>
            <a:schemeClr val="dk1">
              <a:alpha val="8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828800" y="1382500"/>
            <a:ext cx="7608173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상따기법 </a:t>
            </a:r>
            <a:r>
              <a:rPr lang="en-US" altLang="ko-KR" dirty="0">
                <a:solidFill>
                  <a:schemeClr val="bg1"/>
                </a:solidFill>
              </a:rPr>
              <a:t>: </a:t>
            </a:r>
            <a:r>
              <a:rPr lang="ko-KR" altLang="en-US" dirty="0">
                <a:solidFill>
                  <a:schemeClr val="bg1"/>
                </a:solidFill>
              </a:rPr>
              <a:t>상한가에 매수해서 다음날 갭상승에서 매도</a:t>
            </a:r>
          </a:p>
          <a:p>
            <a:endParaRPr lang="ko-KR" altLang="en-US" dirty="0">
              <a:solidFill>
                <a:schemeClr val="bg1"/>
              </a:solidFill>
            </a:endParaRPr>
          </a:p>
          <a:p>
            <a:r>
              <a:rPr lang="en-US" altLang="ko-KR" dirty="0">
                <a:solidFill>
                  <a:schemeClr val="bg1"/>
                </a:solidFill>
              </a:rPr>
              <a:t>99</a:t>
            </a:r>
            <a:r>
              <a:rPr lang="ko-KR" altLang="en-US" dirty="0">
                <a:solidFill>
                  <a:schemeClr val="bg1"/>
                </a:solidFill>
              </a:rPr>
              <a:t>년도 </a:t>
            </a:r>
            <a:r>
              <a:rPr lang="en-US" altLang="ko-KR" dirty="0">
                <a:solidFill>
                  <a:schemeClr val="bg1"/>
                </a:solidFill>
              </a:rPr>
              <a:t>: 12%, 15%</a:t>
            </a:r>
          </a:p>
          <a:p>
            <a:r>
              <a:rPr lang="ko-KR" altLang="en-US" dirty="0" smtClean="0">
                <a:solidFill>
                  <a:schemeClr val="bg1"/>
                </a:solidFill>
              </a:rPr>
              <a:t>상한가 </a:t>
            </a:r>
            <a:r>
              <a:rPr lang="ko-KR" altLang="en-US" dirty="0">
                <a:solidFill>
                  <a:schemeClr val="bg1"/>
                </a:solidFill>
              </a:rPr>
              <a:t>제도 </a:t>
            </a:r>
            <a:r>
              <a:rPr lang="en-US" altLang="ko-KR" dirty="0">
                <a:solidFill>
                  <a:schemeClr val="bg1"/>
                </a:solidFill>
              </a:rPr>
              <a:t>: 30% </a:t>
            </a:r>
          </a:p>
          <a:p>
            <a:r>
              <a:rPr lang="ko-KR" altLang="en-US" dirty="0">
                <a:solidFill>
                  <a:schemeClr val="bg1"/>
                </a:solidFill>
              </a:rPr>
              <a:t>한국은 급등락이 심하기 때문에 향후 </a:t>
            </a:r>
            <a:r>
              <a:rPr lang="en-US" altLang="ko-KR" dirty="0">
                <a:solidFill>
                  <a:schemeClr val="bg1"/>
                </a:solidFill>
              </a:rPr>
              <a:t>10</a:t>
            </a:r>
            <a:r>
              <a:rPr lang="ko-KR" altLang="en-US" dirty="0">
                <a:solidFill>
                  <a:schemeClr val="bg1"/>
                </a:solidFill>
              </a:rPr>
              <a:t>년간은 지속될 듯</a:t>
            </a:r>
          </a:p>
          <a:p>
            <a:r>
              <a:rPr lang="ko-KR" altLang="en-US" dirty="0">
                <a:solidFill>
                  <a:schemeClr val="bg1"/>
                </a:solidFill>
              </a:rPr>
              <a:t>예전 증권사별 실전투자대회에서 </a:t>
            </a:r>
            <a:r>
              <a:rPr lang="en-US" altLang="ko-KR" dirty="0">
                <a:solidFill>
                  <a:schemeClr val="bg1"/>
                </a:solidFill>
              </a:rPr>
              <a:t>10</a:t>
            </a:r>
            <a:r>
              <a:rPr lang="ko-KR" altLang="en-US" dirty="0">
                <a:solidFill>
                  <a:schemeClr val="bg1"/>
                </a:solidFill>
              </a:rPr>
              <a:t>위권까지는 대부분 상한가기법이었다</a:t>
            </a:r>
          </a:p>
          <a:p>
            <a:r>
              <a:rPr lang="ko-KR" altLang="en-US" dirty="0" smtClean="0">
                <a:solidFill>
                  <a:schemeClr val="bg1"/>
                </a:solidFill>
              </a:rPr>
              <a:t>하루 평균 </a:t>
            </a:r>
            <a:r>
              <a:rPr lang="en-US" altLang="ko-KR" dirty="0">
                <a:solidFill>
                  <a:schemeClr val="bg1"/>
                </a:solidFill>
              </a:rPr>
              <a:t>2~5</a:t>
            </a:r>
            <a:r>
              <a:rPr lang="ko-KR" altLang="en-US" dirty="0">
                <a:solidFill>
                  <a:schemeClr val="bg1"/>
                </a:solidFill>
              </a:rPr>
              <a:t>개정도의 상한가종목이 발생</a:t>
            </a:r>
          </a:p>
          <a:p>
            <a:endParaRPr lang="ko-KR" altLang="en-US" dirty="0">
              <a:solidFill>
                <a:schemeClr val="bg1"/>
              </a:solidFill>
            </a:endParaRPr>
          </a:p>
          <a:p>
            <a:r>
              <a:rPr lang="ko-KR" altLang="en-US" dirty="0">
                <a:solidFill>
                  <a:schemeClr val="bg1"/>
                </a:solidFill>
              </a:rPr>
              <a:t>상한가매매는 매우 난해하다</a:t>
            </a:r>
            <a:r>
              <a:rPr lang="en-US" altLang="ko-KR" dirty="0">
                <a:solidFill>
                  <a:schemeClr val="bg1"/>
                </a:solidFill>
              </a:rPr>
              <a:t>.  </a:t>
            </a:r>
          </a:p>
          <a:p>
            <a:r>
              <a:rPr lang="ko-KR" altLang="en-US" dirty="0">
                <a:solidFill>
                  <a:schemeClr val="bg1"/>
                </a:solidFill>
              </a:rPr>
              <a:t>일정한 형태가 </a:t>
            </a:r>
            <a:r>
              <a:rPr lang="ko-KR" altLang="en-US" dirty="0" smtClean="0">
                <a:solidFill>
                  <a:schemeClr val="bg1"/>
                </a:solidFill>
              </a:rPr>
              <a:t>없기 때문에 배울 수가 </a:t>
            </a:r>
            <a:r>
              <a:rPr lang="ko-KR" altLang="en-US" dirty="0">
                <a:solidFill>
                  <a:schemeClr val="bg1"/>
                </a:solidFill>
              </a:rPr>
              <a:t>없다</a:t>
            </a:r>
            <a:r>
              <a:rPr lang="en-US" altLang="ko-KR" dirty="0">
                <a:solidFill>
                  <a:schemeClr val="bg1"/>
                </a:solidFill>
              </a:rPr>
              <a:t>. 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en-US" altLang="ko-KR" dirty="0">
                <a:solidFill>
                  <a:schemeClr val="bg1"/>
                </a:solidFill>
              </a:rPr>
              <a:t>※ </a:t>
            </a:r>
            <a:r>
              <a:rPr lang="ko-KR" altLang="en-US" dirty="0">
                <a:solidFill>
                  <a:schemeClr val="bg1"/>
                </a:solidFill>
              </a:rPr>
              <a:t>상한가 종목의 특징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1) </a:t>
            </a:r>
            <a:r>
              <a:rPr lang="ko-KR" altLang="en-US" dirty="0">
                <a:solidFill>
                  <a:schemeClr val="bg1"/>
                </a:solidFill>
              </a:rPr>
              <a:t>뉴스와 테마가 있는 것이 좋다</a:t>
            </a:r>
            <a:r>
              <a:rPr lang="en-US" altLang="ko-KR" dirty="0">
                <a:solidFill>
                  <a:schemeClr val="bg1"/>
                </a:solidFill>
              </a:rPr>
              <a:t>.  -&gt; </a:t>
            </a:r>
            <a:r>
              <a:rPr lang="ko-KR" altLang="en-US" dirty="0">
                <a:solidFill>
                  <a:schemeClr val="bg1"/>
                </a:solidFill>
              </a:rPr>
              <a:t>재료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2) </a:t>
            </a:r>
            <a:r>
              <a:rPr lang="ko-KR" altLang="en-US" dirty="0">
                <a:solidFill>
                  <a:schemeClr val="bg1"/>
                </a:solidFill>
              </a:rPr>
              <a:t>보통 신고가인 경우가 많다</a:t>
            </a:r>
            <a:r>
              <a:rPr lang="en-US" altLang="ko-KR" dirty="0">
                <a:solidFill>
                  <a:schemeClr val="bg1"/>
                </a:solidFill>
              </a:rPr>
              <a:t>.  -&gt; </a:t>
            </a:r>
            <a:r>
              <a:rPr lang="ko-KR" altLang="en-US" dirty="0">
                <a:solidFill>
                  <a:schemeClr val="bg1"/>
                </a:solidFill>
              </a:rPr>
              <a:t>매물대가 있으면 가기 어렵다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3) </a:t>
            </a:r>
            <a:r>
              <a:rPr lang="ko-KR" altLang="en-US" dirty="0">
                <a:solidFill>
                  <a:schemeClr val="bg1"/>
                </a:solidFill>
              </a:rPr>
              <a:t>보통 아침 이른 시간에 간다</a:t>
            </a:r>
            <a:r>
              <a:rPr lang="en-US" altLang="ko-KR" dirty="0">
                <a:solidFill>
                  <a:schemeClr val="bg1"/>
                </a:solidFill>
              </a:rPr>
              <a:t>.  -&gt; </a:t>
            </a:r>
            <a:r>
              <a:rPr lang="ko-KR" altLang="en-US" dirty="0">
                <a:solidFill>
                  <a:schemeClr val="bg1"/>
                </a:solidFill>
              </a:rPr>
              <a:t>아무나 살 수 없다</a:t>
            </a:r>
            <a:r>
              <a:rPr lang="en-US" altLang="ko-KR" dirty="0">
                <a:solidFill>
                  <a:schemeClr val="bg1"/>
                </a:solidFill>
              </a:rPr>
              <a:t>. 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4) </a:t>
            </a:r>
            <a:r>
              <a:rPr lang="ko-KR" altLang="en-US" dirty="0">
                <a:solidFill>
                  <a:schemeClr val="bg1"/>
                </a:solidFill>
              </a:rPr>
              <a:t>꾸준한 수익이 어렵다</a:t>
            </a:r>
            <a:r>
              <a:rPr lang="en-US" altLang="ko-KR" dirty="0">
                <a:solidFill>
                  <a:schemeClr val="bg1"/>
                </a:solidFill>
              </a:rPr>
              <a:t>. </a:t>
            </a:r>
            <a:r>
              <a:rPr lang="ko-KR" altLang="en-US" dirty="0">
                <a:solidFill>
                  <a:schemeClr val="bg1"/>
                </a:solidFill>
              </a:rPr>
              <a:t>단지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보유종목일 경우에만 매도대응한다</a:t>
            </a:r>
            <a:r>
              <a:rPr lang="en-US" altLang="ko-KR" dirty="0">
                <a:solidFill>
                  <a:schemeClr val="bg1"/>
                </a:solidFill>
              </a:rPr>
              <a:t>. </a:t>
            </a:r>
          </a:p>
          <a:p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9478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스캘핑 강의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스켈핑</a:t>
            </a:r>
            <a:endParaRPr sz="1100" dirty="0">
              <a:latin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32561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02. </a:t>
            </a:r>
            <a:r>
              <a:rPr lang="ko-KR" altLang="en-US" dirty="0" smtClean="0"/>
              <a:t>단타 매매기법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2936429"/>
            <a:ext cx="9024061" cy="3549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921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기준봉 매매</a:t>
            </a:r>
            <a:r>
              <a:rPr lang="en-US" altLang="ko-KR" dirty="0" smtClean="0"/>
              <a:t>(3</a:t>
            </a:r>
            <a:r>
              <a:rPr lang="ko-KR" altLang="en-US" dirty="0" smtClean="0"/>
              <a:t>분봉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45662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기준봉 매매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219200"/>
            <a:ext cx="8191500" cy="50768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58200" y="4343400"/>
            <a:ext cx="32191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3</a:t>
            </a:r>
            <a:r>
              <a:rPr lang="ko-KR" altLang="en-US" dirty="0" smtClean="0"/>
              <a:t>분봉 첫번째 봉이 </a:t>
            </a:r>
            <a:endParaRPr lang="en-US" altLang="ko-KR" dirty="0" smtClean="0"/>
          </a:p>
          <a:p>
            <a:r>
              <a:rPr lang="ko-KR" altLang="en-US" dirty="0" smtClean="0"/>
              <a:t>긴 양봉 혹은 거래대금 강한 봉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1625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기준봉 매매</a:t>
            </a:r>
            <a:r>
              <a:rPr lang="en-US" altLang="ko-KR" dirty="0" smtClean="0"/>
              <a:t>(3</a:t>
            </a:r>
            <a:r>
              <a:rPr lang="ko-KR" altLang="en-US" dirty="0" smtClean="0"/>
              <a:t>분봉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45662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기준봉 매매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" y="1219200"/>
            <a:ext cx="11830050" cy="4724400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8408504" y="3581400"/>
            <a:ext cx="3352800" cy="5334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4495800" y="4953000"/>
            <a:ext cx="4572000" cy="5334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075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기준봉 매매</a:t>
            </a:r>
            <a:r>
              <a:rPr lang="en-US" altLang="ko-KR" dirty="0" smtClean="0"/>
              <a:t>(3</a:t>
            </a:r>
            <a:r>
              <a:rPr lang="ko-KR" altLang="en-US" dirty="0" smtClean="0"/>
              <a:t>분봉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45662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기준봉 매매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" y="1295400"/>
            <a:ext cx="11830050" cy="4724400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7239000" y="1981200"/>
            <a:ext cx="3581400" cy="5334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7391400" y="3326296"/>
            <a:ext cx="4114800" cy="5334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5715000" y="5562601"/>
            <a:ext cx="4343400" cy="5334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676400" y="6172200"/>
            <a:ext cx="6514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기준봉의 구간을 나누어 진입 </a:t>
            </a:r>
            <a:r>
              <a:rPr lang="en-US" altLang="ko-KR" dirty="0" smtClean="0"/>
              <a:t>: </a:t>
            </a:r>
            <a:r>
              <a:rPr lang="ko-KR" altLang="en-US" dirty="0" smtClean="0"/>
              <a:t>보통 </a:t>
            </a:r>
            <a:r>
              <a:rPr lang="en-US" altLang="ko-KR" dirty="0" smtClean="0"/>
              <a:t>2~4</a:t>
            </a:r>
            <a:r>
              <a:rPr lang="ko-KR" altLang="en-US" dirty="0" smtClean="0"/>
              <a:t>분할</a:t>
            </a:r>
            <a:r>
              <a:rPr lang="en-US" altLang="ko-KR" dirty="0" smtClean="0"/>
              <a:t>, </a:t>
            </a:r>
            <a:r>
              <a:rPr lang="ko-KR" altLang="en-US" dirty="0" smtClean="0"/>
              <a:t>경우에 따라 올인</a:t>
            </a:r>
            <a:r>
              <a:rPr lang="en-US" altLang="ko-KR" dirty="0" smtClean="0"/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7201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기준봉 매매</a:t>
            </a:r>
            <a:r>
              <a:rPr lang="en-US" altLang="ko-KR" dirty="0" smtClean="0"/>
              <a:t>(3</a:t>
            </a:r>
            <a:r>
              <a:rPr lang="ko-KR" altLang="en-US" dirty="0" smtClean="0"/>
              <a:t>분봉</a:t>
            </a:r>
            <a:r>
              <a:rPr lang="en-US" altLang="ko-KR" dirty="0" smtClean="0"/>
              <a:t>) : </a:t>
            </a:r>
            <a:r>
              <a:rPr lang="ko-KR" altLang="en-US" dirty="0" smtClean="0"/>
              <a:t>종목의 선정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45662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기준봉 매매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rcRect b="11291"/>
          <a:stretch/>
        </p:blipFill>
        <p:spPr>
          <a:xfrm>
            <a:off x="1524000" y="1371600"/>
            <a:ext cx="9144000" cy="419100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2209800" y="4038600"/>
            <a:ext cx="6629400" cy="6096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676400" y="5791200"/>
            <a:ext cx="78293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주식을 사서 더 비싸게 팔아야 하는 게 매매 </a:t>
            </a:r>
            <a:r>
              <a:rPr lang="en-US" altLang="ko-KR" dirty="0" smtClean="0">
                <a:sym typeface="Wingdings" panose="05000000000000000000" pitchFamily="2" charset="2"/>
              </a:rPr>
              <a:t> </a:t>
            </a:r>
            <a:r>
              <a:rPr lang="ko-KR" altLang="en-US" dirty="0" smtClean="0">
                <a:sym typeface="Wingdings" panose="05000000000000000000" pitchFamily="2" charset="2"/>
              </a:rPr>
              <a:t>사람이 많은 시장</a:t>
            </a:r>
            <a:r>
              <a:rPr lang="en-US" altLang="ko-KR" dirty="0" smtClean="0">
                <a:sym typeface="Wingdings" panose="05000000000000000000" pitchFamily="2" charset="2"/>
              </a:rPr>
              <a:t>/</a:t>
            </a:r>
            <a:r>
              <a:rPr lang="ko-KR" altLang="en-US" dirty="0" smtClean="0">
                <a:sym typeface="Wingdings" panose="05000000000000000000" pitchFamily="2" charset="2"/>
              </a:rPr>
              <a:t>종목을 매매</a:t>
            </a:r>
            <a:endParaRPr lang="en-US" altLang="ko-KR" dirty="0" smtClean="0">
              <a:sym typeface="Wingdings" panose="05000000000000000000" pitchFamily="2" charset="2"/>
            </a:endParaRPr>
          </a:p>
          <a:p>
            <a:r>
              <a:rPr lang="ko-KR" altLang="en-US" dirty="0" smtClean="0">
                <a:sym typeface="Wingdings" panose="05000000000000000000" pitchFamily="2" charset="2"/>
              </a:rPr>
              <a:t>관심을 많이 가지는 종목</a:t>
            </a:r>
            <a:r>
              <a:rPr lang="en-US" altLang="ko-KR" dirty="0" smtClean="0">
                <a:sym typeface="Wingdings" panose="05000000000000000000" pitchFamily="2" charset="2"/>
              </a:rPr>
              <a:t>  </a:t>
            </a:r>
            <a:r>
              <a:rPr lang="ko-KR" altLang="en-US" dirty="0" smtClean="0">
                <a:sym typeface="Wingdings" panose="05000000000000000000" pitchFamily="2" charset="2"/>
              </a:rPr>
              <a:t>거래대금이 많은 종목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7325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기준봉 매매</a:t>
            </a:r>
            <a:r>
              <a:rPr lang="en-US" altLang="ko-KR" dirty="0" smtClean="0"/>
              <a:t>(3</a:t>
            </a:r>
            <a:r>
              <a:rPr lang="ko-KR" altLang="en-US" dirty="0" smtClean="0"/>
              <a:t>분봉</a:t>
            </a:r>
            <a:r>
              <a:rPr lang="en-US" altLang="ko-KR" dirty="0" smtClean="0"/>
              <a:t>) : </a:t>
            </a:r>
            <a:r>
              <a:rPr lang="ko-KR" altLang="en-US" dirty="0" smtClean="0"/>
              <a:t>종목의 선정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45662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기준봉 매매</a:t>
            </a:r>
            <a:endParaRPr sz="1100" dirty="0">
              <a:latin typeface="맑은 고딕"/>
              <a:cs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76400" y="5791200"/>
            <a:ext cx="5700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빨간선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이평선은 아니고 가이드선</a:t>
            </a:r>
            <a:r>
              <a:rPr lang="en-US" altLang="ko-KR" dirty="0" smtClean="0"/>
              <a:t>, </a:t>
            </a:r>
            <a:r>
              <a:rPr lang="ko-KR" altLang="en-US" dirty="0" smtClean="0"/>
              <a:t>볼린저밴드 상단</a:t>
            </a:r>
            <a:r>
              <a:rPr lang="ko-KR" altLang="en-US" dirty="0" smtClean="0"/>
              <a:t>선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950" y="1190625"/>
            <a:ext cx="1000125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395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기준봉 매매</a:t>
            </a:r>
            <a:r>
              <a:rPr lang="en-US" altLang="ko-KR" dirty="0" smtClean="0"/>
              <a:t>(3</a:t>
            </a:r>
            <a:r>
              <a:rPr lang="ko-KR" altLang="en-US" dirty="0" smtClean="0"/>
              <a:t>분봉</a:t>
            </a:r>
            <a:r>
              <a:rPr lang="en-US" altLang="ko-KR" dirty="0" smtClean="0"/>
              <a:t>) : </a:t>
            </a:r>
            <a:r>
              <a:rPr lang="ko-KR" altLang="en-US" dirty="0" smtClean="0"/>
              <a:t>종목의 선정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45662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기준봉 매매</a:t>
            </a:r>
            <a:endParaRPr sz="1100" dirty="0">
              <a:latin typeface="맑은 고딕"/>
              <a:cs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76400" y="5791200"/>
            <a:ext cx="4887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빨간 가이드선을 한번 돌파후 강한 상승이 나옴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950" y="1190625"/>
            <a:ext cx="1000125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358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기준봉 매매</a:t>
            </a:r>
            <a:r>
              <a:rPr lang="en-US" altLang="ko-KR" dirty="0" smtClean="0"/>
              <a:t>(3</a:t>
            </a:r>
            <a:r>
              <a:rPr lang="ko-KR" altLang="en-US" dirty="0" smtClean="0"/>
              <a:t>분봉</a:t>
            </a:r>
            <a:r>
              <a:rPr lang="en-US" altLang="ko-KR" dirty="0" smtClean="0"/>
              <a:t>) : </a:t>
            </a:r>
            <a:r>
              <a:rPr lang="ko-KR" altLang="en-US" dirty="0" smtClean="0"/>
              <a:t>종목의 선정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45662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기준봉 매매</a:t>
            </a:r>
            <a:endParaRPr sz="1100" dirty="0">
              <a:latin typeface="맑은 고딕"/>
              <a:cs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76400" y="5791200"/>
            <a:ext cx="63834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강한 거래대금이 나오면서 상승이 나와주긴 했지만</a:t>
            </a:r>
            <a:r>
              <a:rPr lang="en-US" altLang="ko-KR" dirty="0" smtClean="0"/>
              <a:t>, </a:t>
            </a:r>
          </a:p>
          <a:p>
            <a:r>
              <a:rPr lang="ko-KR" altLang="en-US" dirty="0" smtClean="0"/>
              <a:t>볼린저밴드 아래에서 그렇게 강한 종목으로는 보이지 않는다</a:t>
            </a:r>
            <a:r>
              <a:rPr lang="en-US" altLang="ko-KR" dirty="0" smtClean="0"/>
              <a:t>. 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950" y="1190625"/>
            <a:ext cx="1000125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577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기준봉 매매</a:t>
            </a:r>
            <a:r>
              <a:rPr lang="en-US" altLang="ko-KR" dirty="0" smtClean="0"/>
              <a:t>(3</a:t>
            </a:r>
            <a:r>
              <a:rPr lang="ko-KR" altLang="en-US" dirty="0" smtClean="0"/>
              <a:t>분봉</a:t>
            </a:r>
            <a:r>
              <a:rPr lang="en-US" altLang="ko-KR" dirty="0" smtClean="0"/>
              <a:t>) : </a:t>
            </a:r>
            <a:r>
              <a:rPr lang="ko-KR" altLang="en-US" dirty="0" smtClean="0"/>
              <a:t>종목의 선정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45662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기준봉 매매</a:t>
            </a:r>
            <a:endParaRPr sz="1100" dirty="0">
              <a:latin typeface="맑은 고딕"/>
              <a:cs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76400" y="5791200"/>
            <a:ext cx="7306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마찬가지로 볼린저밴드를 돌파하는 것은 아니므로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강한 종목은 아니다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150" y="1190625"/>
            <a:ext cx="1000125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189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기준봉 매매</a:t>
            </a:r>
            <a:r>
              <a:rPr lang="en-US" altLang="ko-KR" dirty="0" smtClean="0"/>
              <a:t>(3</a:t>
            </a:r>
            <a:r>
              <a:rPr lang="ko-KR" altLang="en-US" dirty="0" smtClean="0"/>
              <a:t>분봉</a:t>
            </a:r>
            <a:r>
              <a:rPr lang="en-US" altLang="ko-KR" dirty="0" smtClean="0"/>
              <a:t>) : </a:t>
            </a:r>
            <a:r>
              <a:rPr lang="ko-KR" altLang="en-US" dirty="0" smtClean="0"/>
              <a:t>종목의 선정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45662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기준봉 매매</a:t>
            </a:r>
            <a:endParaRPr sz="1100" dirty="0">
              <a:latin typeface="맑은 고딕"/>
              <a:cs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76400" y="5791200"/>
            <a:ext cx="89482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볼린저밴드를 거래대금과 함께 강하게 돌파</a:t>
            </a:r>
            <a:endParaRPr lang="en-US" altLang="ko-KR" dirty="0" smtClean="0"/>
          </a:p>
          <a:p>
            <a:r>
              <a:rPr lang="ko-KR" altLang="en-US" dirty="0" smtClean="0"/>
              <a:t>뒤에도 신고가 영역이며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저항대가 없으므로 더 상승할 것으로 기대 </a:t>
            </a:r>
            <a:r>
              <a:rPr lang="en-US" altLang="ko-KR" dirty="0" smtClean="0">
                <a:sym typeface="Wingdings" panose="05000000000000000000" pitchFamily="2" charset="2"/>
              </a:rPr>
              <a:t> </a:t>
            </a:r>
            <a:r>
              <a:rPr lang="ko-KR" altLang="en-US" dirty="0" smtClean="0">
                <a:sym typeface="Wingdings" panose="05000000000000000000" pitchFamily="2" charset="2"/>
              </a:rPr>
              <a:t>단타하기에 </a:t>
            </a:r>
            <a:r>
              <a:rPr lang="en-US" altLang="ko-KR" dirty="0" smtClean="0">
                <a:sym typeface="Wingdings" panose="05000000000000000000" pitchFamily="2" charset="2"/>
              </a:rPr>
              <a:t>Good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950" y="1190625"/>
            <a:ext cx="1000125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279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기준봉 매매</a:t>
            </a:r>
            <a:r>
              <a:rPr lang="en-US" altLang="ko-KR" dirty="0" smtClean="0"/>
              <a:t>(3</a:t>
            </a:r>
            <a:r>
              <a:rPr lang="ko-KR" altLang="en-US" dirty="0" smtClean="0"/>
              <a:t>분봉</a:t>
            </a:r>
            <a:r>
              <a:rPr lang="en-US" altLang="ko-KR" dirty="0" smtClean="0"/>
              <a:t>) : </a:t>
            </a:r>
            <a:r>
              <a:rPr lang="ko-KR" altLang="en-US" dirty="0" smtClean="0"/>
              <a:t>종목의 선정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45662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기준봉 매매</a:t>
            </a:r>
            <a:endParaRPr sz="1100" dirty="0">
              <a:latin typeface="맑은 고딕"/>
              <a:cs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76400" y="6107668"/>
            <a:ext cx="5918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볼린저밴드 상한선 위에서 강한 거래량과 함께 상승</a:t>
            </a:r>
            <a:r>
              <a:rPr lang="en-US" altLang="ko-KR" dirty="0" smtClean="0"/>
              <a:t>, Good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950" y="1156252"/>
            <a:ext cx="1000125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48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기준봉 매매</a:t>
            </a:r>
            <a:r>
              <a:rPr lang="en-US" altLang="ko-KR" dirty="0" smtClean="0"/>
              <a:t>(3</a:t>
            </a:r>
            <a:r>
              <a:rPr lang="ko-KR" altLang="en-US" dirty="0" smtClean="0"/>
              <a:t>분봉</a:t>
            </a:r>
            <a:r>
              <a:rPr lang="en-US" altLang="ko-KR" dirty="0" smtClean="0"/>
              <a:t>) : </a:t>
            </a:r>
            <a:r>
              <a:rPr lang="ko-KR" altLang="en-US" dirty="0" smtClean="0"/>
              <a:t>종목의 선정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45662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기준봉 매매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0660" y="1295400"/>
            <a:ext cx="9372600" cy="2286000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3240156" y="1918252"/>
            <a:ext cx="3429000" cy="4572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1981200" y="2488096"/>
            <a:ext cx="3733800" cy="4572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4204252" y="3048000"/>
            <a:ext cx="3872948" cy="4572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1682818" y="4450930"/>
            <a:ext cx="50513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장초에 </a:t>
            </a:r>
            <a:r>
              <a:rPr lang="en-US" altLang="ko-KR" dirty="0" smtClean="0"/>
              <a:t>1~2</a:t>
            </a:r>
            <a:r>
              <a:rPr lang="ko-KR" altLang="en-US" dirty="0" smtClean="0"/>
              <a:t>종목에서만 승부를 내야 하기 때문에</a:t>
            </a:r>
            <a:endParaRPr lang="en-US" altLang="ko-KR" dirty="0" smtClean="0"/>
          </a:p>
          <a:p>
            <a:r>
              <a:rPr lang="ko-KR" altLang="en-US" dirty="0" smtClean="0"/>
              <a:t>좀더 좋은 종목을 빠르게 찾아 낼 수 있어야 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5230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기준봉 매매</a:t>
            </a:r>
            <a:r>
              <a:rPr lang="en-US" altLang="ko-KR" dirty="0"/>
              <a:t>(3</a:t>
            </a:r>
            <a:r>
              <a:rPr lang="ko-KR" altLang="en-US" dirty="0"/>
              <a:t>분봉</a:t>
            </a:r>
            <a:r>
              <a:rPr lang="en-US" altLang="ko-KR" dirty="0"/>
              <a:t>) : </a:t>
            </a:r>
            <a:r>
              <a:rPr lang="ko-KR" altLang="en-US" dirty="0" smtClean="0"/>
              <a:t>볼린저밴드 설정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219200"/>
            <a:ext cx="7349493" cy="50594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915400" y="2590800"/>
            <a:ext cx="36649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볼린저밴드 벗어날 확률 </a:t>
            </a:r>
            <a:r>
              <a:rPr lang="en-US" altLang="ko-KR" dirty="0" smtClean="0"/>
              <a:t>: 5%</a:t>
            </a:r>
          </a:p>
          <a:p>
            <a:r>
              <a:rPr lang="ko-KR" altLang="en-US" dirty="0" smtClean="0"/>
              <a:t>설정값을 </a:t>
            </a:r>
            <a:r>
              <a:rPr lang="en-US" altLang="ko-KR" dirty="0" smtClean="0"/>
              <a:t>Period 20</a:t>
            </a:r>
            <a:r>
              <a:rPr lang="ko-KR" altLang="en-US" dirty="0" smtClean="0"/>
              <a:t>을 </a:t>
            </a:r>
            <a:r>
              <a:rPr lang="en-US" altLang="ko-KR" dirty="0" smtClean="0"/>
              <a:t>240</a:t>
            </a:r>
            <a:r>
              <a:rPr lang="ko-KR" altLang="en-US" dirty="0" smtClean="0"/>
              <a:t>으로 설정</a:t>
            </a:r>
            <a:endParaRPr lang="ko-KR" altLang="en-US" dirty="0"/>
          </a:p>
        </p:txBody>
      </p:sp>
      <p:sp>
        <p:nvSpPr>
          <p:cNvPr id="9" name="object 2"/>
          <p:cNvSpPr txBox="1"/>
          <p:nvPr/>
        </p:nvSpPr>
        <p:spPr>
          <a:xfrm>
            <a:off x="132384" y="206375"/>
            <a:ext cx="1163016" cy="545662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기준봉 매매</a:t>
            </a:r>
            <a:endParaRPr sz="1100" dirty="0">
              <a:latin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501185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시가베팅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45662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시가베팅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950" y="1585912"/>
            <a:ext cx="10229850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529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시가베팅 </a:t>
            </a:r>
            <a:r>
              <a:rPr lang="en-US" altLang="ko-KR" dirty="0" smtClean="0"/>
              <a:t>(</a:t>
            </a:r>
            <a:r>
              <a:rPr lang="ko-KR" altLang="en-US" dirty="0" smtClean="0"/>
              <a:t>높은자리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45662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시가베팅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0660" y="1219200"/>
            <a:ext cx="10172700" cy="457200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3962400" y="2667000"/>
            <a:ext cx="6629400" cy="4572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682818" y="5867400"/>
            <a:ext cx="99774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대응이 가장 중요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익절은 </a:t>
            </a:r>
            <a:r>
              <a:rPr lang="en-US" altLang="ko-KR" dirty="0" smtClean="0"/>
              <a:t>1%~3%</a:t>
            </a:r>
            <a:r>
              <a:rPr lang="ko-KR" altLang="en-US" dirty="0" smtClean="0"/>
              <a:t>가 좋다</a:t>
            </a:r>
            <a:r>
              <a:rPr lang="en-US" altLang="ko-KR" dirty="0" smtClean="0"/>
              <a:t>, </a:t>
            </a:r>
            <a:r>
              <a:rPr lang="ko-KR" altLang="en-US" dirty="0" smtClean="0"/>
              <a:t>빠졌다가 다시 올라가는 경우는 적으므로 미련 없이 탈출</a:t>
            </a:r>
            <a:endParaRPr lang="en-US" altLang="ko-KR" dirty="0" smtClean="0"/>
          </a:p>
          <a:p>
            <a:r>
              <a:rPr lang="ko-KR" altLang="en-US" dirty="0" smtClean="0"/>
              <a:t>매수 후 빠르게 상승이 나오지 않고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지지부진 하다면 그냥 나오는 게 좋다</a:t>
            </a:r>
            <a:r>
              <a:rPr lang="en-US" altLang="ko-KR" dirty="0" smtClean="0"/>
              <a:t>. 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570804" y="3810000"/>
            <a:ext cx="5835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8:30~8:40, </a:t>
            </a:r>
            <a:r>
              <a:rPr lang="ko-KR" altLang="en-US" dirty="0" smtClean="0"/>
              <a:t>장전시간외 매수잔량과 어제 시간외잔량 비교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6483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시가베팅 </a:t>
            </a:r>
            <a:r>
              <a:rPr lang="en-US" altLang="ko-KR" dirty="0"/>
              <a:t>(</a:t>
            </a:r>
            <a:r>
              <a:rPr lang="ko-KR" altLang="en-US" dirty="0"/>
              <a:t>높은자리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45662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시가베팅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7883" y="1295400"/>
            <a:ext cx="10333117" cy="4451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007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시가베팅 </a:t>
            </a:r>
            <a:r>
              <a:rPr lang="en-US" altLang="ko-KR" dirty="0"/>
              <a:t>(</a:t>
            </a:r>
            <a:r>
              <a:rPr lang="ko-KR" altLang="en-US" dirty="0"/>
              <a:t>높은자리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45662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시가베팅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0660" y="1219200"/>
            <a:ext cx="10333117" cy="4451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56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돌파매매 </a:t>
            </a:r>
            <a:r>
              <a:rPr lang="en-US" altLang="ko-KR" dirty="0" smtClean="0"/>
              <a:t>(</a:t>
            </a:r>
            <a:r>
              <a:rPr lang="ko-KR" altLang="en-US" dirty="0" smtClean="0"/>
              <a:t>시초가돌파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45662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시초가돌파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447800"/>
            <a:ext cx="6141385" cy="2725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676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돌파매매 </a:t>
            </a:r>
            <a:r>
              <a:rPr lang="en-US" altLang="ko-KR" dirty="0" smtClean="0"/>
              <a:t>(</a:t>
            </a:r>
            <a:r>
              <a:rPr lang="ko-KR" altLang="en-US" dirty="0" smtClean="0"/>
              <a:t>시초가돌파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45662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시초가돌파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1274933"/>
            <a:ext cx="9879235" cy="42114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8789" y="5638800"/>
            <a:ext cx="5925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갭상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의미있는 자리</a:t>
            </a:r>
            <a:endParaRPr lang="en-US" altLang="ko-KR" dirty="0" smtClean="0"/>
          </a:p>
          <a:p>
            <a:r>
              <a:rPr lang="en-US" altLang="ko-KR" dirty="0" smtClean="0"/>
              <a:t>3</a:t>
            </a:r>
            <a:r>
              <a:rPr lang="ko-KR" altLang="en-US" dirty="0" smtClean="0"/>
              <a:t>분봉에서 가능하면 </a:t>
            </a:r>
            <a:r>
              <a:rPr lang="en-US" altLang="ko-KR" dirty="0" smtClean="0"/>
              <a:t>3</a:t>
            </a:r>
            <a:r>
              <a:rPr lang="ko-KR" altLang="en-US" dirty="0" smtClean="0"/>
              <a:t>번째 봉까지만 시초가돌파를 한다</a:t>
            </a:r>
            <a:r>
              <a:rPr lang="en-US" altLang="ko-KR" dirty="0" smtClean="0"/>
              <a:t>. 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8571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돌파매매 </a:t>
            </a:r>
            <a:r>
              <a:rPr lang="en-US" altLang="ko-KR" dirty="0" smtClean="0"/>
              <a:t>(</a:t>
            </a:r>
            <a:r>
              <a:rPr lang="ko-KR" altLang="en-US" dirty="0" smtClean="0"/>
              <a:t>시초가돌파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45662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시초가돌파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765" y="1219200"/>
            <a:ext cx="9879235" cy="42114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8789" y="5638800"/>
            <a:ext cx="102739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돌파매매에서 종목선정이 아주 중요</a:t>
            </a:r>
            <a:endParaRPr lang="en-US" altLang="ko-KR" dirty="0" smtClean="0"/>
          </a:p>
          <a:p>
            <a:r>
              <a:rPr lang="ko-KR" altLang="en-US" dirty="0" smtClean="0"/>
              <a:t>위 차트는 신고가 자리를 도전하는 자리</a:t>
            </a:r>
            <a:r>
              <a:rPr lang="en-US" altLang="ko-KR" dirty="0" smtClean="0"/>
              <a:t>, </a:t>
            </a:r>
            <a:r>
              <a:rPr lang="ko-KR" altLang="en-US" dirty="0" smtClean="0"/>
              <a:t>많은 사람이 관심을 가지고 한번에 매수세가 들어와야 한다</a:t>
            </a:r>
            <a:r>
              <a:rPr lang="en-US" altLang="ko-KR" dirty="0" smtClean="0"/>
              <a:t>. 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6675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돌파매매 </a:t>
            </a:r>
            <a:r>
              <a:rPr lang="en-US" altLang="ko-KR" dirty="0" smtClean="0"/>
              <a:t>(</a:t>
            </a:r>
            <a:r>
              <a:rPr lang="ko-KR" altLang="en-US" dirty="0" smtClean="0"/>
              <a:t>시초가돌파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45662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시초가돌파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565" y="1219200"/>
            <a:ext cx="9879235" cy="42114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8789" y="5638800"/>
            <a:ext cx="45512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일봉상에서의 위치와 거래대금을 보고 판다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0716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돌파매매 </a:t>
            </a:r>
            <a:r>
              <a:rPr lang="en-US" altLang="ko-KR" dirty="0" smtClean="0"/>
              <a:t>(</a:t>
            </a:r>
            <a:r>
              <a:rPr lang="ko-KR" altLang="en-US" dirty="0" smtClean="0"/>
              <a:t>시초가돌파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45662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시초가돌파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295400"/>
            <a:ext cx="9879235" cy="42114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8789" y="5638800"/>
            <a:ext cx="71865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호가창의 체결속도가 아주 빨라야 한다</a:t>
            </a:r>
            <a:r>
              <a:rPr lang="en-US" altLang="ko-KR" dirty="0" smtClean="0"/>
              <a:t>. </a:t>
            </a:r>
          </a:p>
          <a:p>
            <a:r>
              <a:rPr lang="ko-KR" altLang="en-US" dirty="0" smtClean="0"/>
              <a:t>체결속도가 천천히 가고 있다면</a:t>
            </a:r>
            <a:r>
              <a:rPr lang="en-US" altLang="ko-KR" dirty="0" smtClean="0"/>
              <a:t>, </a:t>
            </a:r>
            <a:r>
              <a:rPr lang="ko-KR" altLang="en-US" dirty="0" smtClean="0"/>
              <a:t>언제 매도물량이 쏟아질지는 모른다</a:t>
            </a:r>
            <a:r>
              <a:rPr lang="en-US" altLang="ko-KR" dirty="0" smtClean="0"/>
              <a:t>. 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6860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관심종목 선정</a:t>
            </a:r>
            <a:r>
              <a:rPr lang="en-US" altLang="ko-KR" dirty="0" smtClean="0"/>
              <a:t>/</a:t>
            </a:r>
            <a:r>
              <a:rPr lang="ko-KR" altLang="en-US" dirty="0" smtClean="0"/>
              <a:t>선긋기 방법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84134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lang="en-US" altLang="ko-KR" sz="1100" dirty="0" smtClean="0">
              <a:solidFill>
                <a:srgbClr val="FFFFFF"/>
              </a:solidFill>
              <a:latin typeface="맑은 고딕"/>
              <a:cs typeface="맑은 고딕"/>
            </a:endParaRPr>
          </a:p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관심종목 선정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850" y="1295400"/>
            <a:ext cx="1102995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154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돌파매매 </a:t>
            </a:r>
            <a:r>
              <a:rPr lang="en-US" altLang="ko-KR" dirty="0" smtClean="0"/>
              <a:t>(</a:t>
            </a:r>
            <a:r>
              <a:rPr lang="ko-KR" altLang="en-US" dirty="0" smtClean="0"/>
              <a:t>시초가돌파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45662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시초가돌파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170" y="1371600"/>
            <a:ext cx="9115661" cy="365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601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돌파매매 </a:t>
            </a:r>
            <a:r>
              <a:rPr lang="en-US" altLang="ko-KR" dirty="0" smtClean="0"/>
              <a:t>(</a:t>
            </a:r>
            <a:r>
              <a:rPr lang="ko-KR" altLang="en-US" dirty="0" smtClean="0"/>
              <a:t>시초가돌파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45662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시초가돌파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295400"/>
            <a:ext cx="9666696" cy="432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563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돌파매매 </a:t>
            </a:r>
            <a:r>
              <a:rPr lang="en-US" altLang="ko-KR" dirty="0" smtClean="0"/>
              <a:t>(</a:t>
            </a:r>
            <a:r>
              <a:rPr lang="ko-KR" altLang="en-US" dirty="0" smtClean="0"/>
              <a:t>시초가돌파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45662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시초가돌파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50" y="814387"/>
            <a:ext cx="11696700" cy="522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01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돌파매매 </a:t>
            </a:r>
            <a:r>
              <a:rPr lang="en-US" altLang="ko-KR" dirty="0" smtClean="0"/>
              <a:t>(</a:t>
            </a:r>
            <a:r>
              <a:rPr lang="ko-KR" altLang="en-US" dirty="0" smtClean="0"/>
              <a:t>시초가돌파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45662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시초가돌파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705" y="1268162"/>
            <a:ext cx="9666695" cy="432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812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돌파매매 </a:t>
            </a:r>
            <a:r>
              <a:rPr lang="en-US" altLang="ko-KR" dirty="0" smtClean="0"/>
              <a:t>(</a:t>
            </a:r>
            <a:r>
              <a:rPr lang="ko-KR" altLang="en-US" dirty="0" smtClean="0"/>
              <a:t>시초가돌파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45662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시초가돌파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705" y="1268162"/>
            <a:ext cx="9666695" cy="432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974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돌파매매 </a:t>
            </a:r>
            <a:r>
              <a:rPr lang="en-US" altLang="ko-KR" dirty="0" smtClean="0"/>
              <a:t>(</a:t>
            </a:r>
            <a:r>
              <a:rPr lang="ko-KR" altLang="en-US" dirty="0" smtClean="0"/>
              <a:t>시초가돌파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45662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시초가돌파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1268162"/>
            <a:ext cx="9666695" cy="432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144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돌파매매 </a:t>
            </a:r>
            <a:r>
              <a:rPr lang="en-US" altLang="ko-KR" dirty="0" smtClean="0"/>
              <a:t>(</a:t>
            </a:r>
            <a:r>
              <a:rPr lang="ko-KR" altLang="en-US" dirty="0" smtClean="0"/>
              <a:t>시초가돌파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45662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시초가돌파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270" y="1268162"/>
            <a:ext cx="10020930" cy="432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284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돌파매매 </a:t>
            </a:r>
            <a:r>
              <a:rPr lang="en-US" altLang="ko-KR" dirty="0" smtClean="0"/>
              <a:t>(</a:t>
            </a:r>
            <a:r>
              <a:rPr lang="ko-KR" altLang="en-US" dirty="0" smtClean="0"/>
              <a:t>시초가돌파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45662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시초가돌파</a:t>
            </a:r>
            <a:endParaRPr sz="1100" dirty="0">
              <a:latin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106242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돌파매매 </a:t>
            </a:r>
            <a:r>
              <a:rPr lang="en-US" altLang="ko-KR" dirty="0" smtClean="0"/>
              <a:t>(</a:t>
            </a:r>
            <a:r>
              <a:rPr lang="ko-KR" altLang="en-US" dirty="0" smtClean="0"/>
              <a:t>시초가돌파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45662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시초가돌파</a:t>
            </a:r>
            <a:endParaRPr sz="1100" dirty="0">
              <a:latin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565853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돌파매매 </a:t>
            </a:r>
            <a:r>
              <a:rPr lang="en-US" altLang="ko-KR" dirty="0" smtClean="0"/>
              <a:t>(</a:t>
            </a:r>
            <a:r>
              <a:rPr lang="ko-KR" altLang="en-US" dirty="0" smtClean="0"/>
              <a:t>시초가돌파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45662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시초가돌파</a:t>
            </a:r>
            <a:endParaRPr sz="1100" dirty="0">
              <a:latin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087532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03. </a:t>
            </a:r>
            <a:r>
              <a:rPr lang="ko-KR" altLang="en-US" dirty="0" smtClean="0"/>
              <a:t>스윙 매매기법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37141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스윙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싱크홀 매매법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싱크홀 매매법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304925"/>
            <a:ext cx="9867900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20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스윙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싱크홀 매매법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싱크홀 매매법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rcRect t="17029"/>
          <a:stretch/>
        </p:blipFill>
        <p:spPr>
          <a:xfrm>
            <a:off x="1524000" y="1291672"/>
            <a:ext cx="9867900" cy="4578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747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스윙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싱크홀 매매법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싱크홀 매매법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809" y="1291672"/>
            <a:ext cx="10134600" cy="4714875"/>
          </a:xfrm>
          <a:prstGeom prst="rect">
            <a:avLst/>
          </a:prstGeom>
        </p:spPr>
      </p:pic>
      <p:sp>
        <p:nvSpPr>
          <p:cNvPr id="5" name="아래쪽 화살표 4"/>
          <p:cNvSpPr/>
          <p:nvPr/>
        </p:nvSpPr>
        <p:spPr>
          <a:xfrm>
            <a:off x="8431696" y="2133600"/>
            <a:ext cx="228600" cy="304800"/>
          </a:xfrm>
          <a:prstGeom prst="down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위쪽 화살표 8"/>
          <p:cNvSpPr/>
          <p:nvPr/>
        </p:nvSpPr>
        <p:spPr>
          <a:xfrm>
            <a:off x="8865704" y="2842592"/>
            <a:ext cx="228600" cy="304800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2633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종베 </a:t>
            </a:r>
            <a:r>
              <a:rPr lang="en-US" altLang="ko-KR" dirty="0" smtClean="0"/>
              <a:t>- </a:t>
            </a:r>
            <a:r>
              <a:rPr lang="ko-KR" altLang="en-US" dirty="0" smtClean="0"/>
              <a:t>음봉매집봉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음봉매집봉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725" y="1333500"/>
            <a:ext cx="8972550" cy="419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81200" y="5638800"/>
            <a:ext cx="78069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저점에서 매수하기란 어렵다</a:t>
            </a:r>
            <a:r>
              <a:rPr lang="en-US" altLang="ko-KR" dirty="0" smtClean="0"/>
              <a:t>.  </a:t>
            </a:r>
            <a:r>
              <a:rPr lang="ko-KR" altLang="en-US" dirty="0" smtClean="0"/>
              <a:t>저점 가격구간에서 분할로 매수하는 게 좋다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r>
              <a:rPr lang="ko-KR" altLang="en-US" dirty="0" smtClean="0"/>
              <a:t>앞의 최저점을 이탈 시 손절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4935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종베 </a:t>
            </a:r>
            <a:r>
              <a:rPr lang="en-US" altLang="ko-KR" dirty="0" smtClean="0"/>
              <a:t>- </a:t>
            </a:r>
            <a:r>
              <a:rPr lang="ko-KR" altLang="en-US" dirty="0" smtClean="0"/>
              <a:t>음봉매집봉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음봉매집봉</a:t>
            </a:r>
            <a:endParaRPr sz="1100" dirty="0">
              <a:latin typeface="맑은 고딕"/>
              <a:cs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81200" y="5638800"/>
            <a:ext cx="6098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매집음봉이기 때문에 반등이 나왔다</a:t>
            </a:r>
            <a:r>
              <a:rPr lang="en-US" altLang="ko-KR" dirty="0" smtClean="0"/>
              <a:t>. 5%</a:t>
            </a:r>
            <a:r>
              <a:rPr lang="ko-KR" altLang="en-US" dirty="0" smtClean="0"/>
              <a:t>이상부터 분할매도 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725" y="1333500"/>
            <a:ext cx="89725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327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스캘핑 강의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스켈핑</a:t>
            </a:r>
            <a:endParaRPr sz="1100" dirty="0">
              <a:latin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168922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2848380" y="2705725"/>
            <a:ext cx="649524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800" dirty="0">
                <a:solidFill>
                  <a:schemeClr val="accent5">
                    <a:lumMod val="50000"/>
                  </a:schemeClr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Thank You !</a:t>
            </a:r>
            <a:endParaRPr lang="ko-KR" altLang="en-US" sz="8800">
              <a:solidFill>
                <a:schemeClr val="accent5">
                  <a:lumMod val="50000"/>
                </a:schemeClr>
              </a:solidFill>
              <a:latin typeface="나눔스퀘어OTF ExtraBold" panose="020B0600000101010101" pitchFamily="34" charset="-127"/>
              <a:ea typeface="나눔스퀘어OTF ExtraBold" panose="020B0600000101010101" pitchFamily="34" charset="-127"/>
            </a:endParaRPr>
          </a:p>
        </p:txBody>
      </p:sp>
      <p:sp>
        <p:nvSpPr>
          <p:cNvPr id="14" name="object 3"/>
          <p:cNvSpPr txBox="1"/>
          <p:nvPr/>
        </p:nvSpPr>
        <p:spPr>
          <a:xfrm>
            <a:off x="9225788" y="6172200"/>
            <a:ext cx="938910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altLang="ko-KR" sz="1100" dirty="0"/>
              <a:t>S</a:t>
            </a:r>
            <a:r>
              <a:rPr lang="ko-KR" altLang="en-US" sz="1100" dirty="0"/>
              <a:t>秀</a:t>
            </a:r>
            <a:r>
              <a:rPr lang="en-US" altLang="ko-KR" sz="1100" dirty="0"/>
              <a:t>NIPER</a:t>
            </a:r>
            <a:endParaRPr lang="ko-KR" altLang="en-US" sz="1100" dirty="0"/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b="1" spc="-5" dirty="0" smtClean="0">
                <a:latin typeface="Calibri"/>
                <a:cs typeface="Calibri"/>
              </a:rPr>
              <a:t>Online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15" name="object 5"/>
          <p:cNvSpPr/>
          <p:nvPr/>
        </p:nvSpPr>
        <p:spPr>
          <a:xfrm>
            <a:off x="10305287" y="6216651"/>
            <a:ext cx="0" cy="281305"/>
          </a:xfrm>
          <a:custGeom>
            <a:avLst/>
            <a:gdLst/>
            <a:ahLst/>
            <a:cxnLst/>
            <a:rect l="l" t="t" r="r" b="b"/>
            <a:pathLst>
              <a:path h="281305">
                <a:moveTo>
                  <a:pt x="0" y="0"/>
                </a:moveTo>
                <a:lnTo>
                  <a:pt x="0" y="281050"/>
                </a:lnTo>
              </a:path>
            </a:pathLst>
          </a:custGeom>
          <a:ln w="12192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9"/>
          <p:cNvSpPr txBox="1"/>
          <p:nvPr/>
        </p:nvSpPr>
        <p:spPr>
          <a:xfrm>
            <a:off x="10445877" y="6172200"/>
            <a:ext cx="78549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Life</a:t>
            </a:r>
            <a:r>
              <a:rPr sz="1100" spc="-5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Changing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b="1" spc="-5" dirty="0">
                <a:latin typeface="Calibri"/>
                <a:cs typeface="Calibri"/>
              </a:rPr>
              <a:t>Education</a:t>
            </a:r>
            <a:endParaRPr sz="11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7930</TotalTime>
  <Words>1082</Words>
  <Application>Microsoft Office PowerPoint</Application>
  <PresentationFormat>와이드스크린</PresentationFormat>
  <Paragraphs>304</Paragraphs>
  <Slides>51</Slides>
  <Notes>50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51</vt:i4>
      </vt:variant>
    </vt:vector>
  </HeadingPairs>
  <TitlesOfParts>
    <vt:vector size="57" baseType="lpstr">
      <vt:lpstr>나눔스퀘어OTF ExtraBold</vt:lpstr>
      <vt:lpstr>맑은 고딕</vt:lpstr>
      <vt:lpstr>Calibri</vt:lpstr>
      <vt:lpstr>Snap ITC</vt:lpstr>
      <vt:lpstr>Wingdings</vt:lpstr>
      <vt:lpstr>Office Theme</vt:lpstr>
      <vt:lpstr>GritBS Stock Techniques</vt:lpstr>
      <vt:lpstr>INDEX</vt:lpstr>
      <vt:lpstr>01. 상한가 매매기법</vt:lpstr>
      <vt:lpstr>상한가 다음날 갭하락 종목 (시간외 음봉)</vt:lpstr>
      <vt:lpstr>상전고 패턴 : 거래량 눌림자리</vt:lpstr>
      <vt:lpstr>상전고 패턴 : 거래량 눌림자리</vt:lpstr>
      <vt:lpstr>상전고 패턴 : 거래량 눌림자리</vt:lpstr>
      <vt:lpstr>데이짱 상한가 매매기법</vt:lpstr>
      <vt:lpstr>데이짱 상한가 매매기법</vt:lpstr>
      <vt:lpstr>스캘핑 강의</vt:lpstr>
      <vt:lpstr>02. 단타 매매기법</vt:lpstr>
      <vt:lpstr>기준봉 매매(3분봉)</vt:lpstr>
      <vt:lpstr>기준봉 매매(3분봉)</vt:lpstr>
      <vt:lpstr>기준봉 매매(3분봉)</vt:lpstr>
      <vt:lpstr>기준봉 매매(3분봉) : 종목의 선정</vt:lpstr>
      <vt:lpstr>기준봉 매매(3분봉) : 종목의 선정</vt:lpstr>
      <vt:lpstr>기준봉 매매(3분봉) : 종목의 선정</vt:lpstr>
      <vt:lpstr>기준봉 매매(3분봉) : 종목의 선정</vt:lpstr>
      <vt:lpstr>기준봉 매매(3분봉) : 종목의 선정</vt:lpstr>
      <vt:lpstr>기준봉 매매(3분봉) : 종목의 선정</vt:lpstr>
      <vt:lpstr>기준봉 매매(3분봉) : 종목의 선정</vt:lpstr>
      <vt:lpstr>기준봉 매매(3분봉) : 종목의 선정</vt:lpstr>
      <vt:lpstr>기준봉 매매(3분봉) : 볼린저밴드 설정</vt:lpstr>
      <vt:lpstr>시가베팅</vt:lpstr>
      <vt:lpstr>시가베팅 (높은자리)</vt:lpstr>
      <vt:lpstr>시가베팅 (높은자리)</vt:lpstr>
      <vt:lpstr>시가베팅 (높은자리)</vt:lpstr>
      <vt:lpstr>돌파매매 (시초가돌파)</vt:lpstr>
      <vt:lpstr>돌파매매 (시초가돌파)</vt:lpstr>
      <vt:lpstr>돌파매매 (시초가돌파)</vt:lpstr>
      <vt:lpstr>돌파매매 (시초가돌파)</vt:lpstr>
      <vt:lpstr>돌파매매 (시초가돌파)</vt:lpstr>
      <vt:lpstr>관심종목 선정/선긋기 방법</vt:lpstr>
      <vt:lpstr>돌파매매 (시초가돌파)</vt:lpstr>
      <vt:lpstr>돌파매매 (시초가돌파)</vt:lpstr>
      <vt:lpstr>돌파매매 (시초가돌파)</vt:lpstr>
      <vt:lpstr>돌파매매 (시초가돌파)</vt:lpstr>
      <vt:lpstr>돌파매매 (시초가돌파)</vt:lpstr>
      <vt:lpstr>돌파매매 (시초가돌파)</vt:lpstr>
      <vt:lpstr>돌파매매 (시초가돌파)</vt:lpstr>
      <vt:lpstr>돌파매매 (시초가돌파)</vt:lpstr>
      <vt:lpstr>돌파매매 (시초가돌파)</vt:lpstr>
      <vt:lpstr>돌파매매 (시초가돌파)</vt:lpstr>
      <vt:lpstr>03. 스윙 매매기법</vt:lpstr>
      <vt:lpstr>스윙 : 싱크홀 매매법</vt:lpstr>
      <vt:lpstr>스윙 : 싱크홀 매매법</vt:lpstr>
      <vt:lpstr>스윙 : 싱크홀 매매법</vt:lpstr>
      <vt:lpstr>종베 - 음봉매집봉</vt:lpstr>
      <vt:lpstr>종베 - 음봉매집봉</vt:lpstr>
      <vt:lpstr>스캘핑 강의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yskim</dc:creator>
  <cp:lastModifiedBy>Microsoft 계정</cp:lastModifiedBy>
  <cp:revision>72</cp:revision>
  <dcterms:created xsi:type="dcterms:W3CDTF">2022-08-21T01:32:41Z</dcterms:created>
  <dcterms:modified xsi:type="dcterms:W3CDTF">2023-09-04T17:01:28Z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2019-08-23T00:00:00Z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2022-08-21T00:00:00Z</vt:filetime>
  </property>
</Properties>
</file>